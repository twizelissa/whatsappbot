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Selected</c:v>
                </c:pt>
              </c:strCache>
            </c:strRef>
          </c:tx>
          <c:spPr>
            <a:solidFill>
              <a:srgbClr val="1E9ED9"/>
            </a:solidFill>
            <a:effectLst/>
          </c:spPr>
          <c:invertIfNegative val="0"/>
          <c:dLbls>
            <c:numFmt formatCode="#,##0" sourceLinked="0"/>
            <c:spPr>
              <a:noFill/>
              <a:ln>
                <a:noFill/>
              </a:ln>
              <a:effectLst/>
            </c:spPr>
            <c:txPr>
              <a:bodyPr/>
              <a:lstStyle/>
              <a:p>
                <a:pPr>
                  <a:defRPr sz="11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Cote d'Ivoire</c:v>
                </c:pt>
                <c:pt idx="1">
                  <c:v>Ghana</c:v>
                </c:pt>
                <c:pt idx="2">
                  <c:v>Togo</c:v>
                </c:pt>
                <c:pt idx="3">
                  <c:v>Zambia</c:v>
                </c:pt>
                <c:pt idx="4">
                  <c:v>Malawi</c:v>
                </c:pt>
                <c:pt idx="5">
                  <c:v>Benin</c:v>
                </c:pt>
                <c:pt idx="6">
                  <c:v>Senegal</c:v>
                </c:pt>
                <c:pt idx="7">
                  <c:v>Uganda</c:v>
                </c:pt>
                <c:pt idx="8">
                  <c:v>Ethiopia</c:v>
                </c:pt>
                <c:pt idx="9">
                  <c:v>Rwanda</c:v>
                </c:pt>
                <c:pt idx="10">
                  <c:v>Nigeria</c:v>
                </c:pt>
              </c:strCache>
            </c:strRef>
          </c:cat>
          <c:val>
            <c:numRef>
              <c:f>Sheet1!$B$2:$B$12</c:f>
              <c:numCache>
                <c:formatCode>General</c:formatCode>
                <c:ptCount val="11"/>
                <c:pt idx="0">
                  <c:v>6</c:v>
                </c:pt>
                <c:pt idx="1">
                  <c:v>6</c:v>
                </c:pt>
                <c:pt idx="2">
                  <c:v>7</c:v>
                </c:pt>
                <c:pt idx="3">
                  <c:v>9</c:v>
                </c:pt>
                <c:pt idx="4">
                  <c:v>11</c:v>
                </c:pt>
                <c:pt idx="5">
                  <c:v>12</c:v>
                </c:pt>
                <c:pt idx="6">
                  <c:v>19</c:v>
                </c:pt>
                <c:pt idx="7">
                  <c:v>21</c:v>
                </c:pt>
                <c:pt idx="8">
                  <c:v>25</c:v>
                </c:pt>
                <c:pt idx="9">
                  <c:v>40</c:v>
                </c:pt>
                <c:pt idx="10">
                  <c:v>53</c:v>
                </c:pt>
              </c:numCache>
            </c:numRef>
          </c:val>
          <c:extLst>
            <c:ext xmlns:c16="http://schemas.microsoft.com/office/drawing/2014/chart" uri="{C3380CC4-5D6E-409C-BE32-E72D297353CC}">
              <c16:uniqueId val="{00000000-783C-464B-8498-745684ADDE1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22E3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B1F3A"/>
              </a:solidFill>
              <a:effectLst/>
            </c:spPr>
            <c:extLst>
              <c:ext xmlns:c16="http://schemas.microsoft.com/office/drawing/2014/chart" uri="{C3380CC4-5D6E-409C-BE32-E72D297353CC}">
                <c16:uniqueId val="{00000001-181C-45DD-B68D-4FA11DD4D5C7}"/>
              </c:ext>
            </c:extLst>
          </c:dPt>
          <c:dPt>
            <c:idx val="1"/>
            <c:bubble3D val="0"/>
            <c:spPr>
              <a:solidFill>
                <a:srgbClr val="1E9ED9"/>
              </a:solidFill>
              <a:effectLst/>
            </c:spPr>
            <c:extLst>
              <c:ext xmlns:c16="http://schemas.microsoft.com/office/drawing/2014/chart" uri="{C3380CC4-5D6E-409C-BE32-E72D297353CC}">
                <c16:uniqueId val="{00000003-181C-45DD-B68D-4FA11DD4D5C7}"/>
              </c:ext>
            </c:extLst>
          </c:dPt>
          <c:dPt>
            <c:idx val="2"/>
            <c:bubble3D val="0"/>
            <c:spPr>
              <a:solidFill>
                <a:srgbClr val="F4D218"/>
              </a:solidFill>
              <a:effectLst/>
            </c:spPr>
            <c:extLst>
              <c:ext xmlns:c16="http://schemas.microsoft.com/office/drawing/2014/chart" uri="{C3380CC4-5D6E-409C-BE32-E72D297353CC}">
                <c16:uniqueId val="{00000005-181C-45DD-B68D-4FA11DD4D5C7}"/>
              </c:ext>
            </c:extLst>
          </c:dPt>
          <c:dLbls>
            <c:dLbl>
              <c:idx val="0"/>
              <c:numFmt formatCode="General" sourceLinked="0"/>
              <c:spPr/>
              <c:txPr>
                <a:bodyPr/>
                <a:lstStyle/>
                <a:p>
                  <a:pPr>
                    <a:defRPr sz="12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81C-45DD-B68D-4FA11DD4D5C7}"/>
                </c:ext>
              </c:extLst>
            </c:dLbl>
            <c:dLbl>
              <c:idx val="1"/>
              <c:numFmt formatCode="General" sourceLinked="0"/>
              <c:spPr/>
              <c:txPr>
                <a:bodyPr/>
                <a:lstStyle/>
                <a:p>
                  <a:pPr>
                    <a:defRPr sz="12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81C-45DD-B68D-4FA11DD4D5C7}"/>
                </c:ext>
              </c:extLst>
            </c:dLbl>
            <c:dLbl>
              <c:idx val="2"/>
              <c:numFmt formatCode="General" sourceLinked="0"/>
              <c:spPr/>
              <c:txPr>
                <a:bodyPr/>
                <a:lstStyle/>
                <a:p>
                  <a:pPr>
                    <a:defRPr sz="12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81C-45DD-B68D-4FA11DD4D5C7}"/>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Male</c:v>
                </c:pt>
                <c:pt idx="1">
                  <c:v>Female</c:v>
                </c:pt>
                <c:pt idx="2">
                  <c:v>Prefer not to say</c:v>
                </c:pt>
              </c:strCache>
            </c:strRef>
          </c:cat>
          <c:val>
            <c:numRef>
              <c:f>Sheet1!$B$2:$B$4</c:f>
              <c:numCache>
                <c:formatCode>General</c:formatCode>
                <c:ptCount val="3"/>
                <c:pt idx="0">
                  <c:v>192</c:v>
                </c:pt>
                <c:pt idx="1">
                  <c:v>48</c:v>
                </c:pt>
                <c:pt idx="2">
                  <c:v>2</c:v>
                </c:pt>
              </c:numCache>
            </c:numRef>
          </c:val>
          <c:extLst>
            <c:ext xmlns:c16="http://schemas.microsoft.com/office/drawing/2014/chart" uri="{C3380CC4-5D6E-409C-BE32-E72D297353CC}">
              <c16:uniqueId val="{00000006-181C-45DD-B68D-4FA11DD4D5C7}"/>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222E3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Selected</c:v>
                </c:pt>
              </c:strCache>
            </c:strRef>
          </c:tx>
          <c:spPr>
            <a:solidFill>
              <a:srgbClr val="1E9ED9"/>
            </a:solidFill>
            <a:effectLst/>
          </c:spPr>
          <c:invertIfNegative val="0"/>
          <c:dLbls>
            <c:numFmt formatCode="#,##0" sourceLinked="0"/>
            <c:spPr>
              <a:noFill/>
              <a:ln>
                <a:noFill/>
              </a:ln>
              <a:effectLst/>
            </c:spPr>
            <c:txPr>
              <a:bodyPr/>
              <a:lstStyle/>
              <a:p>
                <a:pPr>
                  <a:defRPr sz="12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Prototype</c:v>
                </c:pt>
                <c:pt idx="1">
                  <c:v>MVP</c:v>
                </c:pt>
                <c:pt idx="2">
                  <c:v>Early stage venture</c:v>
                </c:pt>
              </c:strCache>
            </c:strRef>
          </c:cat>
          <c:val>
            <c:numRef>
              <c:f>Sheet1!$B$2:$B$4</c:f>
              <c:numCache>
                <c:formatCode>General</c:formatCode>
                <c:ptCount val="3"/>
                <c:pt idx="0">
                  <c:v>86</c:v>
                </c:pt>
                <c:pt idx="1">
                  <c:v>100</c:v>
                </c:pt>
                <c:pt idx="2">
                  <c:v>56</c:v>
                </c:pt>
              </c:numCache>
            </c:numRef>
          </c:val>
          <c:extLst>
            <c:ext xmlns:c16="http://schemas.microsoft.com/office/drawing/2014/chart" uri="{C3380CC4-5D6E-409C-BE32-E72D297353CC}">
              <c16:uniqueId val="{00000000-9FEF-4E4E-B4C6-68A076E8F55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222E3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Selected</c:v>
                </c:pt>
              </c:strCache>
            </c:strRef>
          </c:tx>
          <c:spPr>
            <a:solidFill>
              <a:srgbClr val="1E9ED9"/>
            </a:solidFill>
            <a:effectLst/>
          </c:spPr>
          <c:invertIfNegative val="0"/>
          <c:dLbls>
            <c:numFmt formatCode="#,##0" sourceLinked="0"/>
            <c:spPr>
              <a:noFill/>
              <a:ln>
                <a:noFill/>
              </a:ln>
              <a:effectLst/>
            </c:spPr>
            <c:txPr>
              <a:bodyPr/>
              <a:lstStyle/>
              <a:p>
                <a:pPr>
                  <a:defRPr sz="11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Other sectors</c:v>
                </c:pt>
                <c:pt idx="1">
                  <c:v>Agriculture</c:v>
                </c:pt>
                <c:pt idx="2">
                  <c:v>Climate and
environment</c:v>
                </c:pt>
                <c:pt idx="3">
                  <c:v>Public service
delivery</c:v>
                </c:pt>
                <c:pt idx="4">
                  <c:v>Financial services
and inclusion</c:v>
                </c:pt>
                <c:pt idx="5">
                  <c:v>Education</c:v>
                </c:pt>
                <c:pt idx="6">
                  <c:v>Health</c:v>
                </c:pt>
              </c:strCache>
            </c:strRef>
          </c:cat>
          <c:val>
            <c:numRef>
              <c:f>Sheet1!$B$2:$B$8</c:f>
              <c:numCache>
                <c:formatCode>General</c:formatCode>
                <c:ptCount val="7"/>
                <c:pt idx="0">
                  <c:v>57</c:v>
                </c:pt>
                <c:pt idx="1">
                  <c:v>9</c:v>
                </c:pt>
                <c:pt idx="2">
                  <c:v>18</c:v>
                </c:pt>
                <c:pt idx="3">
                  <c:v>18</c:v>
                </c:pt>
                <c:pt idx="4">
                  <c:v>27</c:v>
                </c:pt>
                <c:pt idx="5">
                  <c:v>54</c:v>
                </c:pt>
                <c:pt idx="6">
                  <c:v>59</c:v>
                </c:pt>
              </c:numCache>
            </c:numRef>
          </c:val>
          <c:extLst>
            <c:ext xmlns:c16="http://schemas.microsoft.com/office/drawing/2014/chart" uri="{C3380CC4-5D6E-409C-BE32-E72D297353CC}">
              <c16:uniqueId val="{00000000-CF66-4ADA-AE33-68F4B9DD6F5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222E3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295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40080" y="64008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804672" y="75895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002975" y="548640"/>
            <a:ext cx="316040" cy="640080"/>
          </a:xfrm>
          <a:prstGeom prst="rect">
            <a:avLst/>
          </a:prstGeom>
        </p:spPr>
      </p:pic>
      <p:sp>
        <p:nvSpPr>
          <p:cNvPr id="5" name="Shape 1"/>
          <p:cNvSpPr/>
          <p:nvPr/>
        </p:nvSpPr>
        <p:spPr>
          <a:xfrm>
            <a:off x="658368" y="2761488"/>
            <a:ext cx="146304" cy="146304"/>
          </a:xfrm>
          <a:prstGeom prst="ellipse">
            <a:avLst/>
          </a:prstGeom>
          <a:solidFill>
            <a:srgbClr val="F4D218"/>
          </a:solidFill>
          <a:ln/>
        </p:spPr>
        <p:txBody>
          <a:bodyPr/>
          <a:lstStyle/>
          <a:p>
            <a:endParaRPr lang="en-US"/>
          </a:p>
        </p:txBody>
      </p:sp>
      <p:sp>
        <p:nvSpPr>
          <p:cNvPr id="6" name="Text 2"/>
          <p:cNvSpPr txBox="1"/>
          <p:nvPr/>
        </p:nvSpPr>
        <p:spPr>
          <a:xfrm>
            <a:off x="640080" y="2971800"/>
            <a:ext cx="1051560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METI UniPods AI Innovation Programme</a:t>
            </a:r>
            <a:endParaRPr lang="en-US" sz="3800" dirty="0"/>
          </a:p>
        </p:txBody>
      </p:sp>
      <p:sp>
        <p:nvSpPr>
          <p:cNvPr id="7" name="Text 3"/>
          <p:cNvSpPr txBox="1"/>
          <p:nvPr/>
        </p:nvSpPr>
        <p:spPr>
          <a:xfrm>
            <a:off x="640080" y="3767328"/>
            <a:ext cx="10515600" cy="502920"/>
          </a:xfrm>
          <a:prstGeom prst="rect">
            <a:avLst/>
          </a:prstGeom>
          <a:noFill/>
          <a:ln/>
        </p:spPr>
        <p:txBody>
          <a:bodyPr wrap="square" rtlCol="0" anchor="ctr"/>
          <a:lstStyle/>
          <a:p>
            <a:pPr marL="0" indent="0">
              <a:buNone/>
            </a:pPr>
            <a:r>
              <a:rPr lang="en-US" sz="1900" dirty="0">
                <a:solidFill>
                  <a:srgbClr val="1E9ED9"/>
                </a:solidFill>
                <a:latin typeface="Calibri" pitchFamily="34" charset="0"/>
                <a:ea typeface="Calibri" pitchFamily="34" charset="-122"/>
                <a:cs typeface="Calibri" pitchFamily="34" charset="-120"/>
              </a:rPr>
              <a:t>Cohort 1: Selection Results and Programme Overview</a:t>
            </a:r>
            <a:endParaRPr lang="en-US" sz="1900" dirty="0"/>
          </a:p>
        </p:txBody>
      </p:sp>
      <p:sp>
        <p:nvSpPr>
          <p:cNvPr id="8" name="Text 4"/>
          <p:cNvSpPr txBox="1"/>
          <p:nvPr/>
        </p:nvSpPr>
        <p:spPr>
          <a:xfrm>
            <a:off x="640080" y="5989320"/>
            <a:ext cx="7315200" cy="365760"/>
          </a:xfrm>
          <a:prstGeom prst="rect">
            <a:avLst/>
          </a:prstGeom>
          <a:noFill/>
          <a:ln/>
        </p:spPr>
        <p:txBody>
          <a:bodyPr wrap="square" rtlCol="0" anchor="ctr"/>
          <a:lstStyle/>
          <a:p>
            <a:pPr marL="0" indent="0">
              <a:buNone/>
            </a:pPr>
            <a:r>
              <a:rPr lang="en-US" sz="1200" dirty="0">
                <a:solidFill>
                  <a:srgbClr val="A9BBD1"/>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ABOUT THE PROGRAMME</a:t>
            </a:r>
            <a:endParaRPr lang="en-US" sz="1200" dirty="0"/>
          </a:p>
        </p:txBody>
      </p:sp>
      <p:sp>
        <p:nvSpPr>
          <p:cNvPr id="6" name="Text 2"/>
          <p:cNvSpPr txBox="1"/>
          <p:nvPr/>
        </p:nvSpPr>
        <p:spPr>
          <a:xfrm>
            <a:off x="370936" y="2075688"/>
            <a:ext cx="10647584" cy="45719"/>
          </a:xfrm>
          <a:prstGeom prst="rect">
            <a:avLst/>
          </a:prstGeom>
          <a:noFill/>
          <a:ln/>
        </p:spPr>
        <p:txBody>
          <a:bodyPr wrap="square" rtlCol="0" anchor="ctr"/>
          <a:lstStyle/>
          <a:p>
            <a:r>
              <a:rPr lang="en-US" sz="2700" b="1" dirty="0">
                <a:solidFill>
                  <a:srgbClr val="0B1F3A"/>
                </a:solidFill>
                <a:latin typeface="Calibri" pitchFamily="34" charset="0"/>
                <a:ea typeface="Calibri" pitchFamily="34" charset="-122"/>
                <a:cs typeface="Calibri" pitchFamily="34" charset="-120"/>
              </a:rPr>
              <a:t>AI skilling and venture building, funded by the Japanese Ministry of Economy, Trade and Industry(METI)</a:t>
            </a:r>
            <a:endParaRPr lang="en-US" sz="2700" dirty="0"/>
          </a:p>
          <a:p>
            <a:pPr marL="0" indent="0">
              <a:buNone/>
            </a:pPr>
            <a:endParaRPr lang="en-US" sz="2700" dirty="0"/>
          </a:p>
        </p:txBody>
      </p:sp>
      <p:sp>
        <p:nvSpPr>
          <p:cNvPr id="7" name="Text 3"/>
          <p:cNvSpPr txBox="1"/>
          <p:nvPr/>
        </p:nvSpPr>
        <p:spPr>
          <a:xfrm>
            <a:off x="502920" y="2331720"/>
            <a:ext cx="5943600" cy="1188720"/>
          </a:xfrm>
          <a:prstGeom prst="rect">
            <a:avLst/>
          </a:prstGeom>
          <a:noFill/>
          <a:ln/>
        </p:spPr>
        <p:txBody>
          <a:bodyPr wrap="square" rtlCol="0" anchor="ctr"/>
          <a:lstStyle/>
          <a:p>
            <a:pPr marL="0" indent="0">
              <a:lnSpc>
                <a:spcPct val="125000"/>
              </a:lnSpc>
              <a:buNone/>
            </a:pPr>
            <a:r>
              <a:rPr lang="en-US" sz="1350" dirty="0">
                <a:solidFill>
                  <a:srgbClr val="222E3D"/>
                </a:solidFill>
                <a:latin typeface="Calibri" pitchFamily="34" charset="0"/>
                <a:ea typeface="Calibri" pitchFamily="34" charset="-122"/>
                <a:cs typeface="Calibri" pitchFamily="34" charset="-120"/>
              </a:rPr>
              <a:t>The METI UniPods AI Innovation Programme gives African innovators the technical skills, entrepreneurial grounding and support they need to advance in AI and turn their ideas into ventures. It is funded by the Japanese Ministry of Economy, Trade and Industry.</a:t>
            </a:r>
            <a:endParaRPr lang="en-US" sz="1350" dirty="0"/>
          </a:p>
        </p:txBody>
      </p:sp>
      <p:sp>
        <p:nvSpPr>
          <p:cNvPr id="8" name="Text 4"/>
          <p:cNvSpPr txBox="1"/>
          <p:nvPr/>
        </p:nvSpPr>
        <p:spPr>
          <a:xfrm>
            <a:off x="502920" y="3611880"/>
            <a:ext cx="5943600" cy="914400"/>
          </a:xfrm>
          <a:prstGeom prst="rect">
            <a:avLst/>
          </a:prstGeom>
          <a:noFill/>
          <a:ln/>
        </p:spPr>
        <p:txBody>
          <a:bodyPr wrap="square" rtlCol="0" anchor="ctr"/>
          <a:lstStyle/>
          <a:p>
            <a:pPr marL="0" indent="0">
              <a:lnSpc>
                <a:spcPct val="125000"/>
              </a:lnSpc>
              <a:buNone/>
            </a:pPr>
            <a:r>
              <a:rPr lang="en-US" sz="1350" dirty="0">
                <a:solidFill>
                  <a:srgbClr val="222E3D"/>
                </a:solidFill>
                <a:latin typeface="Calibri" pitchFamily="34" charset="0"/>
                <a:ea typeface="Calibri" pitchFamily="34" charset="-122"/>
                <a:cs typeface="Calibri" pitchFamily="34" charset="-120"/>
              </a:rPr>
              <a:t>The programme builds a pipeline into the timbuktoo Hubs, UNDP's initiative supporting Africa's startup ecosystem through ten pan African hubs, with early stage capital, policy support and technical support.</a:t>
            </a:r>
            <a:endParaRPr lang="en-US" sz="1350" dirty="0"/>
          </a:p>
        </p:txBody>
      </p:sp>
      <p:sp>
        <p:nvSpPr>
          <p:cNvPr id="9" name="Text 5"/>
          <p:cNvSpPr txBox="1"/>
          <p:nvPr/>
        </p:nvSpPr>
        <p:spPr>
          <a:xfrm>
            <a:off x="502920" y="4709160"/>
            <a:ext cx="5943600" cy="1051560"/>
          </a:xfrm>
          <a:prstGeom prst="rect">
            <a:avLst/>
          </a:prstGeom>
          <a:noFill/>
          <a:ln/>
        </p:spPr>
        <p:txBody>
          <a:bodyPr wrap="square" rtlCol="0" anchor="ctr"/>
          <a:lstStyle/>
          <a:p>
            <a:pPr marL="0" indent="0">
              <a:lnSpc>
                <a:spcPct val="125000"/>
              </a:lnSpc>
              <a:buNone/>
            </a:pPr>
            <a:r>
              <a:rPr lang="en-US" sz="1350" dirty="0">
                <a:solidFill>
                  <a:srgbClr val="222E3D"/>
                </a:solidFill>
                <a:latin typeface="Calibri" pitchFamily="34" charset="0"/>
                <a:ea typeface="Calibri" pitchFamily="34" charset="-122"/>
                <a:cs typeface="Calibri" pitchFamily="34" charset="-120"/>
              </a:rPr>
              <a:t>UniPods are makerspaces inside public universities that support innovators from idea through prototyping, testing and market access. There are 23 UniPods across 21 countries today, with five more opening by December 2026.</a:t>
            </a:r>
            <a:endParaRPr lang="en-US" sz="1350" dirty="0"/>
          </a:p>
        </p:txBody>
      </p:sp>
      <p:pic>
        <p:nvPicPr>
          <p:cNvPr id="10" name="Image 2" descr="pdf_assets/img-005.jpg"/>
          <p:cNvPicPr>
            <a:picLocks noChangeAspect="1"/>
          </p:cNvPicPr>
          <p:nvPr/>
        </p:nvPicPr>
        <p:blipFill>
          <a:blip r:embed="rId5"/>
          <a:stretch>
            <a:fillRect/>
          </a:stretch>
        </p:blipFill>
        <p:spPr>
          <a:xfrm>
            <a:off x="6903720" y="2286000"/>
            <a:ext cx="4800600" cy="4142232"/>
          </a:xfrm>
          <a:prstGeom prst="rect">
            <a:avLst/>
          </a:prstGeom>
        </p:spPr>
      </p:pic>
      <p:sp>
        <p:nvSpPr>
          <p:cNvPr id="11" name="Text 6"/>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12" name="Text 7"/>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HOW SELECTION WORKED</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From 584 applications to a cohort of 242</a:t>
            </a:r>
            <a:endParaRPr lang="en-US" sz="2700" dirty="0"/>
          </a:p>
        </p:txBody>
      </p:sp>
      <p:sp>
        <p:nvSpPr>
          <p:cNvPr id="7" name="Shape 3"/>
          <p:cNvSpPr/>
          <p:nvPr/>
        </p:nvSpPr>
        <p:spPr>
          <a:xfrm>
            <a:off x="1005840" y="2834640"/>
            <a:ext cx="2834640" cy="1965960"/>
          </a:xfrm>
          <a:prstGeom prst="roundRect">
            <a:avLst>
              <a:gd name="adj" fmla="val 4651"/>
            </a:avLst>
          </a:prstGeom>
          <a:solidFill>
            <a:srgbClr val="F4F8FB"/>
          </a:solidFill>
          <a:ln w="12700">
            <a:solidFill>
              <a:srgbClr val="DCE6EF"/>
            </a:solidFill>
            <a:prstDash val="solid"/>
          </a:ln>
        </p:spPr>
        <p:txBody>
          <a:bodyPr/>
          <a:lstStyle/>
          <a:p>
            <a:endParaRPr lang="en-US"/>
          </a:p>
        </p:txBody>
      </p:sp>
      <p:sp>
        <p:nvSpPr>
          <p:cNvPr id="8" name="Text 4"/>
          <p:cNvSpPr txBox="1"/>
          <p:nvPr/>
        </p:nvSpPr>
        <p:spPr>
          <a:xfrm>
            <a:off x="1005840" y="3127248"/>
            <a:ext cx="2834640" cy="868680"/>
          </a:xfrm>
          <a:prstGeom prst="rect">
            <a:avLst/>
          </a:prstGeom>
          <a:noFill/>
          <a:ln/>
        </p:spPr>
        <p:txBody>
          <a:bodyPr wrap="square" rtlCol="0" anchor="ctr"/>
          <a:lstStyle/>
          <a:p>
            <a:pPr marL="0" indent="0" algn="ctr">
              <a:buNone/>
            </a:pPr>
            <a:r>
              <a:rPr lang="en-US" sz="4400" b="1" dirty="0">
                <a:solidFill>
                  <a:srgbClr val="0B1F3A"/>
                </a:solidFill>
                <a:latin typeface="Calibri" pitchFamily="34" charset="0"/>
                <a:ea typeface="Calibri" pitchFamily="34" charset="-122"/>
                <a:cs typeface="Calibri" pitchFamily="34" charset="-120"/>
              </a:rPr>
              <a:t>584</a:t>
            </a:r>
            <a:endParaRPr lang="en-US" sz="4400" dirty="0"/>
          </a:p>
        </p:txBody>
      </p:sp>
      <p:sp>
        <p:nvSpPr>
          <p:cNvPr id="9" name="Text 5"/>
          <p:cNvSpPr txBox="1"/>
          <p:nvPr/>
        </p:nvSpPr>
        <p:spPr>
          <a:xfrm>
            <a:off x="1188720" y="4005072"/>
            <a:ext cx="2468880" cy="640080"/>
          </a:xfrm>
          <a:prstGeom prst="rect">
            <a:avLst/>
          </a:prstGeom>
          <a:noFill/>
          <a:ln/>
        </p:spPr>
        <p:txBody>
          <a:bodyPr wrap="square" rtlCol="0" anchor="ctr"/>
          <a:lstStyle/>
          <a:p>
            <a:pPr marL="0" indent="0" algn="ctr">
              <a:lnSpc>
                <a:spcPct val="115000"/>
              </a:lnSpc>
              <a:buNone/>
            </a:pPr>
            <a:r>
              <a:rPr lang="en-US" sz="1300" dirty="0">
                <a:solidFill>
                  <a:srgbClr val="5B6B7C"/>
                </a:solidFill>
                <a:latin typeface="Calibri" pitchFamily="34" charset="0"/>
                <a:ea typeface="Calibri" pitchFamily="34" charset="-122"/>
                <a:cs typeface="Calibri" pitchFamily="34" charset="-120"/>
              </a:rPr>
              <a:t>Applied to the</a:t>
            </a:r>
            <a:endParaRPr lang="en-US" sz="1300" dirty="0"/>
          </a:p>
          <a:p>
            <a:pPr marL="0" indent="0" algn="ctr">
              <a:lnSpc>
                <a:spcPct val="115000"/>
              </a:lnSpc>
              <a:buNone/>
            </a:pPr>
            <a:r>
              <a:rPr lang="en-US" sz="1300" dirty="0">
                <a:solidFill>
                  <a:srgbClr val="5B6B7C"/>
                </a:solidFill>
                <a:latin typeface="Calibri" pitchFamily="34" charset="0"/>
                <a:ea typeface="Calibri" pitchFamily="34" charset="-122"/>
                <a:cs typeface="Calibri" pitchFamily="34" charset="-120"/>
              </a:rPr>
              <a:t>long list</a:t>
            </a:r>
            <a:endParaRPr lang="en-US" sz="1300" dirty="0"/>
          </a:p>
        </p:txBody>
      </p:sp>
      <p:sp>
        <p:nvSpPr>
          <p:cNvPr id="10" name="Text 6"/>
          <p:cNvSpPr txBox="1"/>
          <p:nvPr/>
        </p:nvSpPr>
        <p:spPr>
          <a:xfrm>
            <a:off x="3895344" y="3337560"/>
            <a:ext cx="484632" cy="914400"/>
          </a:xfrm>
          <a:prstGeom prst="rect">
            <a:avLst/>
          </a:prstGeom>
          <a:noFill/>
          <a:ln/>
        </p:spPr>
        <p:txBody>
          <a:bodyPr wrap="square" rtlCol="0" anchor="ctr"/>
          <a:lstStyle/>
          <a:p>
            <a:pPr marL="0" indent="0" algn="ctr">
              <a:buNone/>
            </a:pPr>
            <a:r>
              <a:rPr lang="en-US" sz="3000" b="1" dirty="0">
                <a:solidFill>
                  <a:srgbClr val="AEC3D6"/>
                </a:solidFill>
                <a:latin typeface="Calibri" pitchFamily="34" charset="0"/>
                <a:ea typeface="Calibri" pitchFamily="34" charset="-122"/>
                <a:cs typeface="Calibri" pitchFamily="34" charset="-120"/>
              </a:rPr>
              <a:t>›</a:t>
            </a:r>
            <a:endParaRPr lang="en-US" sz="3000" dirty="0"/>
          </a:p>
        </p:txBody>
      </p:sp>
      <p:sp>
        <p:nvSpPr>
          <p:cNvPr id="11" name="Shape 7"/>
          <p:cNvSpPr/>
          <p:nvPr/>
        </p:nvSpPr>
        <p:spPr>
          <a:xfrm>
            <a:off x="4434840" y="2834640"/>
            <a:ext cx="2834640" cy="1965960"/>
          </a:xfrm>
          <a:prstGeom prst="roundRect">
            <a:avLst>
              <a:gd name="adj" fmla="val 4651"/>
            </a:avLst>
          </a:prstGeom>
          <a:solidFill>
            <a:srgbClr val="F4F8FB"/>
          </a:solidFill>
          <a:ln w="12700">
            <a:solidFill>
              <a:srgbClr val="DCE6EF"/>
            </a:solidFill>
            <a:prstDash val="solid"/>
          </a:ln>
        </p:spPr>
        <p:txBody>
          <a:bodyPr/>
          <a:lstStyle/>
          <a:p>
            <a:endParaRPr lang="en-US"/>
          </a:p>
        </p:txBody>
      </p:sp>
      <p:sp>
        <p:nvSpPr>
          <p:cNvPr id="12" name="Text 8"/>
          <p:cNvSpPr txBox="1"/>
          <p:nvPr/>
        </p:nvSpPr>
        <p:spPr>
          <a:xfrm>
            <a:off x="4434840" y="3127248"/>
            <a:ext cx="2834640" cy="868680"/>
          </a:xfrm>
          <a:prstGeom prst="rect">
            <a:avLst/>
          </a:prstGeom>
          <a:noFill/>
          <a:ln/>
        </p:spPr>
        <p:txBody>
          <a:bodyPr wrap="square" rtlCol="0" anchor="ctr"/>
          <a:lstStyle/>
          <a:p>
            <a:pPr marL="0" indent="0" algn="ctr">
              <a:buNone/>
            </a:pPr>
            <a:r>
              <a:rPr lang="en-US" sz="4400" b="1" dirty="0">
                <a:solidFill>
                  <a:srgbClr val="0B1F3A"/>
                </a:solidFill>
                <a:latin typeface="Calibri" pitchFamily="34" charset="0"/>
                <a:ea typeface="Calibri" pitchFamily="34" charset="-122"/>
                <a:cs typeface="Calibri" pitchFamily="34" charset="-120"/>
              </a:rPr>
              <a:t>446</a:t>
            </a:r>
            <a:endParaRPr lang="en-US" sz="4400" dirty="0"/>
          </a:p>
        </p:txBody>
      </p:sp>
      <p:sp>
        <p:nvSpPr>
          <p:cNvPr id="13" name="Text 9"/>
          <p:cNvSpPr txBox="1"/>
          <p:nvPr/>
        </p:nvSpPr>
        <p:spPr>
          <a:xfrm>
            <a:off x="4617720" y="4005072"/>
            <a:ext cx="2468880" cy="640080"/>
          </a:xfrm>
          <a:prstGeom prst="rect">
            <a:avLst/>
          </a:prstGeom>
          <a:noFill/>
          <a:ln/>
        </p:spPr>
        <p:txBody>
          <a:bodyPr wrap="square" rtlCol="0" anchor="ctr"/>
          <a:lstStyle/>
          <a:p>
            <a:pPr marL="0" indent="0" algn="ctr">
              <a:lnSpc>
                <a:spcPct val="115000"/>
              </a:lnSpc>
              <a:buNone/>
            </a:pPr>
            <a:r>
              <a:rPr lang="en-US" sz="1300" dirty="0">
                <a:solidFill>
                  <a:srgbClr val="5B6B7C"/>
                </a:solidFill>
                <a:latin typeface="Calibri" pitchFamily="34" charset="0"/>
                <a:ea typeface="Calibri" pitchFamily="34" charset="-122"/>
                <a:cs typeface="Calibri" pitchFamily="34" charset="-120"/>
              </a:rPr>
              <a:t>Interviewed over</a:t>
            </a:r>
            <a:endParaRPr lang="en-US" sz="1300" dirty="0"/>
          </a:p>
          <a:p>
            <a:pPr marL="0" indent="0" algn="ctr">
              <a:lnSpc>
                <a:spcPct val="115000"/>
              </a:lnSpc>
              <a:buNone/>
            </a:pPr>
            <a:r>
              <a:rPr lang="en-US" sz="1300" dirty="0">
                <a:solidFill>
                  <a:srgbClr val="5B6B7C"/>
                </a:solidFill>
                <a:latin typeface="Calibri" pitchFamily="34" charset="0"/>
                <a:ea typeface="Calibri" pitchFamily="34" charset="-122"/>
                <a:cs typeface="Calibri" pitchFamily="34" charset="-120"/>
              </a:rPr>
              <a:t>3 days</a:t>
            </a:r>
            <a:endParaRPr lang="en-US" sz="1300" dirty="0"/>
          </a:p>
        </p:txBody>
      </p:sp>
      <p:sp>
        <p:nvSpPr>
          <p:cNvPr id="14" name="Text 10"/>
          <p:cNvSpPr txBox="1"/>
          <p:nvPr/>
        </p:nvSpPr>
        <p:spPr>
          <a:xfrm>
            <a:off x="7324344" y="3337560"/>
            <a:ext cx="484632" cy="914400"/>
          </a:xfrm>
          <a:prstGeom prst="rect">
            <a:avLst/>
          </a:prstGeom>
          <a:noFill/>
          <a:ln/>
        </p:spPr>
        <p:txBody>
          <a:bodyPr wrap="square" rtlCol="0" anchor="ctr"/>
          <a:lstStyle/>
          <a:p>
            <a:pPr marL="0" indent="0" algn="ctr">
              <a:buNone/>
            </a:pPr>
            <a:r>
              <a:rPr lang="en-US" sz="3000" b="1" dirty="0">
                <a:solidFill>
                  <a:srgbClr val="AEC3D6"/>
                </a:solidFill>
                <a:latin typeface="Calibri" pitchFamily="34" charset="0"/>
                <a:ea typeface="Calibri" pitchFamily="34" charset="-122"/>
                <a:cs typeface="Calibri" pitchFamily="34" charset="-120"/>
              </a:rPr>
              <a:t>›</a:t>
            </a:r>
            <a:endParaRPr lang="en-US" sz="3000" dirty="0"/>
          </a:p>
        </p:txBody>
      </p:sp>
      <p:sp>
        <p:nvSpPr>
          <p:cNvPr id="15" name="Shape 11"/>
          <p:cNvSpPr/>
          <p:nvPr/>
        </p:nvSpPr>
        <p:spPr>
          <a:xfrm>
            <a:off x="7863840" y="2834640"/>
            <a:ext cx="2834640" cy="1965960"/>
          </a:xfrm>
          <a:prstGeom prst="roundRect">
            <a:avLst>
              <a:gd name="adj" fmla="val 4651"/>
            </a:avLst>
          </a:prstGeom>
          <a:solidFill>
            <a:srgbClr val="0B1F3A"/>
          </a:solidFill>
          <a:ln w="12700">
            <a:solidFill>
              <a:srgbClr val="DCE6EF"/>
            </a:solidFill>
            <a:prstDash val="solid"/>
          </a:ln>
        </p:spPr>
        <p:txBody>
          <a:bodyPr/>
          <a:lstStyle/>
          <a:p>
            <a:endParaRPr lang="en-US"/>
          </a:p>
        </p:txBody>
      </p:sp>
      <p:sp>
        <p:nvSpPr>
          <p:cNvPr id="16" name="Text 12"/>
          <p:cNvSpPr txBox="1"/>
          <p:nvPr/>
        </p:nvSpPr>
        <p:spPr>
          <a:xfrm>
            <a:off x="7863840" y="3127248"/>
            <a:ext cx="2834640" cy="868680"/>
          </a:xfrm>
          <a:prstGeom prst="rect">
            <a:avLst/>
          </a:prstGeom>
          <a:noFill/>
          <a:ln/>
        </p:spPr>
        <p:txBody>
          <a:bodyPr wrap="square" rtlCol="0" anchor="ctr"/>
          <a:lstStyle/>
          <a:p>
            <a:pPr marL="0" indent="0" algn="ctr">
              <a:buNone/>
            </a:pPr>
            <a:r>
              <a:rPr lang="en-US" sz="4400" b="1" dirty="0">
                <a:solidFill>
                  <a:srgbClr val="F4D218"/>
                </a:solidFill>
                <a:latin typeface="Calibri" pitchFamily="34" charset="0"/>
                <a:ea typeface="Calibri" pitchFamily="34" charset="-122"/>
                <a:cs typeface="Calibri" pitchFamily="34" charset="-120"/>
              </a:rPr>
              <a:t>242</a:t>
            </a:r>
            <a:endParaRPr lang="en-US" sz="4400" dirty="0"/>
          </a:p>
        </p:txBody>
      </p:sp>
      <p:sp>
        <p:nvSpPr>
          <p:cNvPr id="17" name="Text 13"/>
          <p:cNvSpPr txBox="1"/>
          <p:nvPr/>
        </p:nvSpPr>
        <p:spPr>
          <a:xfrm>
            <a:off x="8046720" y="4005072"/>
            <a:ext cx="2468880" cy="640080"/>
          </a:xfrm>
          <a:prstGeom prst="rect">
            <a:avLst/>
          </a:prstGeom>
          <a:noFill/>
          <a:ln/>
        </p:spPr>
        <p:txBody>
          <a:bodyPr wrap="square" rtlCol="0" anchor="ctr"/>
          <a:lstStyle/>
          <a:p>
            <a:pPr marL="0" indent="0" algn="ctr">
              <a:lnSpc>
                <a:spcPct val="115000"/>
              </a:lnSpc>
              <a:buNone/>
            </a:pPr>
            <a:r>
              <a:rPr lang="en-US" sz="1300" dirty="0">
                <a:solidFill>
                  <a:srgbClr val="FFFFFF"/>
                </a:solidFill>
                <a:latin typeface="Calibri" pitchFamily="34" charset="0"/>
                <a:ea typeface="Calibri" pitchFamily="34" charset="-122"/>
                <a:cs typeface="Calibri" pitchFamily="34" charset="-120"/>
              </a:rPr>
              <a:t>Selected into</a:t>
            </a:r>
            <a:endParaRPr lang="en-US" sz="1300" dirty="0"/>
          </a:p>
          <a:p>
            <a:pPr marL="0" indent="0" algn="ctr">
              <a:lnSpc>
                <a:spcPct val="115000"/>
              </a:lnSpc>
              <a:buNone/>
            </a:pPr>
            <a:r>
              <a:rPr lang="en-US" sz="1300" dirty="0">
                <a:solidFill>
                  <a:srgbClr val="FFFFFF"/>
                </a:solidFill>
                <a:latin typeface="Calibri" pitchFamily="34" charset="0"/>
                <a:ea typeface="Calibri" pitchFamily="34" charset="-122"/>
                <a:cs typeface="Calibri" pitchFamily="34" charset="-120"/>
              </a:rPr>
              <a:t>Cohort 1</a:t>
            </a:r>
            <a:endParaRPr lang="en-US" sz="1300" dirty="0"/>
          </a:p>
        </p:txBody>
      </p:sp>
      <p:sp>
        <p:nvSpPr>
          <p:cNvPr id="18" name="Text 14"/>
          <p:cNvSpPr txBox="1"/>
          <p:nvPr/>
        </p:nvSpPr>
        <p:spPr>
          <a:xfrm>
            <a:off x="1005840" y="5257800"/>
            <a:ext cx="10149840" cy="640080"/>
          </a:xfrm>
          <a:prstGeom prst="rect">
            <a:avLst/>
          </a:prstGeom>
          <a:noFill/>
          <a:ln/>
        </p:spPr>
        <p:txBody>
          <a:bodyPr wrap="square" rtlCol="0" anchor="ctr"/>
          <a:lstStyle/>
          <a:p>
            <a:pPr marL="0" indent="0">
              <a:lnSpc>
                <a:spcPct val="120000"/>
              </a:lnSpc>
              <a:buNone/>
            </a:pPr>
            <a:r>
              <a:rPr lang="en-US" sz="1250" dirty="0">
                <a:solidFill>
                  <a:srgbClr val="5B6B7C"/>
                </a:solidFill>
                <a:latin typeface="Calibri" pitchFamily="34" charset="0"/>
                <a:ea typeface="Calibri" pitchFamily="34" charset="-122"/>
                <a:cs typeface="Calibri" pitchFamily="34" charset="-120"/>
              </a:rPr>
              <a:t>554 candidates were booked for interview; Of the 446 who were interviewed, 242 were selected into Cohort 1.</a:t>
            </a:r>
            <a:endParaRPr lang="en-US" sz="1250" dirty="0"/>
          </a:p>
        </p:txBody>
      </p:sp>
      <p:sp>
        <p:nvSpPr>
          <p:cNvPr id="19" name="Text 15"/>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20" name="Text 16"/>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SELECTED CANDIDATES</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Where they are from</a:t>
            </a:r>
            <a:endParaRPr lang="en-US" sz="2700" dirty="0"/>
          </a:p>
        </p:txBody>
      </p:sp>
      <p:graphicFrame>
        <p:nvGraphicFramePr>
          <p:cNvPr id="7" name="Chart 0"/>
          <p:cNvGraphicFramePr/>
          <p:nvPr/>
        </p:nvGraphicFramePr>
        <p:xfrm>
          <a:off x="502920" y="2286000"/>
          <a:ext cx="7315200" cy="4160520"/>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3"/>
          <p:cNvSpPr/>
          <p:nvPr/>
        </p:nvSpPr>
        <p:spPr>
          <a:xfrm>
            <a:off x="8229600" y="2377440"/>
            <a:ext cx="3474720" cy="1554480"/>
          </a:xfrm>
          <a:prstGeom prst="roundRect">
            <a:avLst>
              <a:gd name="adj" fmla="val 5882"/>
            </a:avLst>
          </a:prstGeom>
          <a:solidFill>
            <a:srgbClr val="F4F8FB"/>
          </a:solidFill>
          <a:ln w="12700">
            <a:solidFill>
              <a:srgbClr val="DCE6EF"/>
            </a:solidFill>
            <a:prstDash val="solid"/>
          </a:ln>
        </p:spPr>
        <p:txBody>
          <a:bodyPr/>
          <a:lstStyle/>
          <a:p>
            <a:endParaRPr lang="en-US"/>
          </a:p>
        </p:txBody>
      </p:sp>
      <p:sp>
        <p:nvSpPr>
          <p:cNvPr id="9" name="Text 4"/>
          <p:cNvSpPr txBox="1"/>
          <p:nvPr/>
        </p:nvSpPr>
        <p:spPr>
          <a:xfrm>
            <a:off x="8229600" y="2606040"/>
            <a:ext cx="3474720" cy="685800"/>
          </a:xfrm>
          <a:prstGeom prst="rect">
            <a:avLst/>
          </a:prstGeom>
          <a:noFill/>
          <a:ln/>
        </p:spPr>
        <p:txBody>
          <a:bodyPr wrap="square" rtlCol="0" anchor="ctr"/>
          <a:lstStyle/>
          <a:p>
            <a:pPr marL="0" indent="0" algn="ctr">
              <a:buNone/>
            </a:pPr>
            <a:r>
              <a:rPr lang="en-US" sz="3800" b="1" dirty="0">
                <a:solidFill>
                  <a:srgbClr val="0B1F3A"/>
                </a:solidFill>
                <a:latin typeface="Calibri" pitchFamily="34" charset="0"/>
                <a:ea typeface="Calibri" pitchFamily="34" charset="-122"/>
                <a:cs typeface="Calibri" pitchFamily="34" charset="-120"/>
              </a:rPr>
              <a:t>22</a:t>
            </a:r>
            <a:endParaRPr lang="en-US" sz="3800" dirty="0"/>
          </a:p>
        </p:txBody>
      </p:sp>
      <p:sp>
        <p:nvSpPr>
          <p:cNvPr id="10" name="Text 5"/>
          <p:cNvSpPr txBox="1"/>
          <p:nvPr/>
        </p:nvSpPr>
        <p:spPr>
          <a:xfrm>
            <a:off x="8412480" y="3246120"/>
            <a:ext cx="3108960" cy="548640"/>
          </a:xfrm>
          <a:prstGeom prst="rect">
            <a:avLst/>
          </a:prstGeom>
          <a:noFill/>
          <a:ln/>
        </p:spPr>
        <p:txBody>
          <a:bodyPr wrap="square" rtlCol="0" anchor="ctr"/>
          <a:lstStyle/>
          <a:p>
            <a:pPr marL="0" indent="0" algn="ctr">
              <a:lnSpc>
                <a:spcPct val="115000"/>
              </a:lnSpc>
              <a:buNone/>
            </a:pPr>
            <a:r>
              <a:rPr lang="en-US" sz="1200" dirty="0">
                <a:solidFill>
                  <a:srgbClr val="5B6B7C"/>
                </a:solidFill>
                <a:latin typeface="Calibri" pitchFamily="34" charset="0"/>
                <a:ea typeface="Calibri" pitchFamily="34" charset="-122"/>
                <a:cs typeface="Calibri" pitchFamily="34" charset="-120"/>
              </a:rPr>
              <a:t>countries represented</a:t>
            </a:r>
            <a:endParaRPr lang="en-US" sz="1200" dirty="0"/>
          </a:p>
          <a:p>
            <a:pPr marL="0" indent="0" algn="ctr">
              <a:lnSpc>
                <a:spcPct val="115000"/>
              </a:lnSpc>
              <a:buNone/>
            </a:pPr>
            <a:r>
              <a:rPr lang="en-US" sz="1200" dirty="0">
                <a:solidFill>
                  <a:srgbClr val="5B6B7C"/>
                </a:solidFill>
                <a:latin typeface="Calibri" pitchFamily="34" charset="0"/>
                <a:ea typeface="Calibri" pitchFamily="34" charset="-122"/>
                <a:cs typeface="Calibri" pitchFamily="34" charset="-120"/>
              </a:rPr>
              <a:t>in the selected cohort</a:t>
            </a:r>
            <a:endParaRPr lang="en-US" sz="1200" dirty="0"/>
          </a:p>
        </p:txBody>
      </p:sp>
      <p:sp>
        <p:nvSpPr>
          <p:cNvPr id="11" name="Text 6"/>
          <p:cNvSpPr txBox="1"/>
          <p:nvPr/>
        </p:nvSpPr>
        <p:spPr>
          <a:xfrm>
            <a:off x="8229600" y="4160520"/>
            <a:ext cx="3474720" cy="1554480"/>
          </a:xfrm>
          <a:prstGeom prst="rect">
            <a:avLst/>
          </a:prstGeom>
          <a:noFill/>
          <a:ln/>
        </p:spPr>
        <p:txBody>
          <a:bodyPr wrap="square" rtlCol="0" anchor="ctr"/>
          <a:lstStyle/>
          <a:p>
            <a:pPr marL="0" indent="0">
              <a:lnSpc>
                <a:spcPct val="125000"/>
              </a:lnSpc>
              <a:buNone/>
            </a:pPr>
            <a:r>
              <a:rPr lang="en-US" sz="1200" dirty="0">
                <a:solidFill>
                  <a:srgbClr val="5B6B7C"/>
                </a:solidFill>
                <a:latin typeface="Calibri" pitchFamily="34" charset="0"/>
                <a:ea typeface="Calibri" pitchFamily="34" charset="-122"/>
                <a:cs typeface="Calibri" pitchFamily="34" charset="-120"/>
              </a:rPr>
              <a:t>The remaining 11 countries each contributed between 1 and 5 selected candidates, including Botswana, Eswatini, Lesotho, Madagascar, Mali and South Sudan.</a:t>
            </a:r>
            <a:endParaRPr lang="en-US" sz="1200" dirty="0"/>
          </a:p>
        </p:txBody>
      </p:sp>
      <p:sp>
        <p:nvSpPr>
          <p:cNvPr id="12" name="Text 7"/>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13" name="Text 8"/>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SELECTED CANDIDATES</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Who they are</a:t>
            </a:r>
            <a:endParaRPr lang="en-US" sz="2700" dirty="0"/>
          </a:p>
        </p:txBody>
      </p:sp>
      <p:sp>
        <p:nvSpPr>
          <p:cNvPr id="7" name="Text 3"/>
          <p:cNvSpPr txBox="1"/>
          <p:nvPr/>
        </p:nvSpPr>
        <p:spPr>
          <a:xfrm>
            <a:off x="502920" y="2240280"/>
            <a:ext cx="5029200" cy="36576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Gender</a:t>
            </a:r>
            <a:endParaRPr lang="en-US" sz="1500" dirty="0"/>
          </a:p>
        </p:txBody>
      </p:sp>
      <p:graphicFrame>
        <p:nvGraphicFramePr>
          <p:cNvPr id="8" name="Chart 0"/>
          <p:cNvGraphicFramePr/>
          <p:nvPr/>
        </p:nvGraphicFramePr>
        <p:xfrm>
          <a:off x="320040" y="2606040"/>
          <a:ext cx="5394960" cy="370332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4"/>
          <p:cNvSpPr txBox="1"/>
          <p:nvPr/>
        </p:nvSpPr>
        <p:spPr>
          <a:xfrm>
            <a:off x="6263640" y="2240280"/>
            <a:ext cx="5486400" cy="365760"/>
          </a:xfrm>
          <a:prstGeom prst="rect">
            <a:avLst/>
          </a:prstGeom>
          <a:noFill/>
          <a:ln/>
        </p:spPr>
        <p:txBody>
          <a:bodyPr wrap="square"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Claimed stage at interview</a:t>
            </a:r>
            <a:endParaRPr lang="en-US" sz="1500" dirty="0"/>
          </a:p>
        </p:txBody>
      </p:sp>
      <p:graphicFrame>
        <p:nvGraphicFramePr>
          <p:cNvPr id="10" name="Chart 1"/>
          <p:cNvGraphicFramePr/>
          <p:nvPr/>
        </p:nvGraphicFramePr>
        <p:xfrm>
          <a:off x="6263640" y="2651760"/>
          <a:ext cx="5486400" cy="3657600"/>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 5"/>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12" name="Text 6"/>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SELECTED CANDIDATES</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What they're building</a:t>
            </a:r>
            <a:endParaRPr lang="en-US" sz="2700" dirty="0"/>
          </a:p>
        </p:txBody>
      </p:sp>
      <p:graphicFrame>
        <p:nvGraphicFramePr>
          <p:cNvPr id="7" name="Chart 0"/>
          <p:cNvGraphicFramePr/>
          <p:nvPr/>
        </p:nvGraphicFramePr>
        <p:xfrm>
          <a:off x="502920" y="2286000"/>
          <a:ext cx="11155680" cy="4160520"/>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 3"/>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9" name="Text 4"/>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THE PROGRAMME</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What selected teams receive</a:t>
            </a:r>
            <a:endParaRPr lang="en-US" sz="2700" dirty="0"/>
          </a:p>
        </p:txBody>
      </p:sp>
      <p:sp>
        <p:nvSpPr>
          <p:cNvPr id="7" name="Shape 3"/>
          <p:cNvSpPr/>
          <p:nvPr/>
        </p:nvSpPr>
        <p:spPr>
          <a:xfrm>
            <a:off x="502920" y="2240280"/>
            <a:ext cx="11155680" cy="1188720"/>
          </a:xfrm>
          <a:prstGeom prst="roundRect">
            <a:avLst>
              <a:gd name="adj" fmla="val 6923"/>
            </a:avLst>
          </a:prstGeom>
          <a:solidFill>
            <a:srgbClr val="F4F8FB"/>
          </a:solidFill>
          <a:ln w="12700">
            <a:solidFill>
              <a:srgbClr val="DCE6EF"/>
            </a:solidFill>
            <a:prstDash val="solid"/>
          </a:ln>
        </p:spPr>
        <p:txBody>
          <a:bodyPr/>
          <a:lstStyle/>
          <a:p>
            <a:endParaRPr lang="en-US"/>
          </a:p>
        </p:txBody>
      </p:sp>
      <p:sp>
        <p:nvSpPr>
          <p:cNvPr id="8" name="Shape 4"/>
          <p:cNvSpPr/>
          <p:nvPr/>
        </p:nvSpPr>
        <p:spPr>
          <a:xfrm>
            <a:off x="822960" y="2514600"/>
            <a:ext cx="640080" cy="640080"/>
          </a:xfrm>
          <a:prstGeom prst="ellipse">
            <a:avLst/>
          </a:prstGeom>
          <a:solidFill>
            <a:srgbClr val="0B1F3A"/>
          </a:solidFill>
          <a:ln/>
        </p:spPr>
        <p:txBody>
          <a:bodyPr/>
          <a:lstStyle/>
          <a:p>
            <a:endParaRPr lang="en-US"/>
          </a:p>
        </p:txBody>
      </p:sp>
      <p:sp>
        <p:nvSpPr>
          <p:cNvPr id="9" name="Text 5"/>
          <p:cNvSpPr txBox="1"/>
          <p:nvPr/>
        </p:nvSpPr>
        <p:spPr>
          <a:xfrm>
            <a:off x="822960" y="2514600"/>
            <a:ext cx="640080" cy="640080"/>
          </a:xfrm>
          <a:prstGeom prst="rect">
            <a:avLst/>
          </a:prstGeom>
          <a:noFill/>
          <a:ln/>
        </p:spPr>
        <p:txBody>
          <a:bodyPr wrap="square" rtlCol="0" anchor="ctr"/>
          <a:lstStyle/>
          <a:p>
            <a:pPr marL="0" indent="0" algn="ctr">
              <a:buNone/>
            </a:pPr>
            <a:r>
              <a:rPr lang="en-US" sz="2000" b="1" dirty="0">
                <a:solidFill>
                  <a:srgbClr val="F4D218"/>
                </a:solidFill>
                <a:latin typeface="Calibri" pitchFamily="34" charset="0"/>
                <a:ea typeface="Calibri" pitchFamily="34" charset="-122"/>
                <a:cs typeface="Calibri" pitchFamily="34" charset="-120"/>
              </a:rPr>
              <a:t>1</a:t>
            </a:r>
            <a:endParaRPr lang="en-US" sz="2000" dirty="0"/>
          </a:p>
        </p:txBody>
      </p:sp>
      <p:sp>
        <p:nvSpPr>
          <p:cNvPr id="10" name="Text 6"/>
          <p:cNvSpPr txBox="1"/>
          <p:nvPr/>
        </p:nvSpPr>
        <p:spPr>
          <a:xfrm>
            <a:off x="1691640" y="2386584"/>
            <a:ext cx="9601200" cy="320040"/>
          </a:xfrm>
          <a:prstGeom prst="rect">
            <a:avLst/>
          </a:prstGeom>
          <a:noFill/>
          <a:ln/>
        </p:spPr>
        <p:txBody>
          <a:bodyPr wrap="square"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MIT: foundational AI</a:t>
            </a:r>
            <a:endParaRPr lang="en-US" sz="1450" dirty="0"/>
          </a:p>
        </p:txBody>
      </p:sp>
      <p:sp>
        <p:nvSpPr>
          <p:cNvPr id="11" name="Text 7"/>
          <p:cNvSpPr txBox="1"/>
          <p:nvPr/>
        </p:nvSpPr>
        <p:spPr>
          <a:xfrm>
            <a:off x="1691640" y="2734056"/>
            <a:ext cx="9601200" cy="621792"/>
          </a:xfrm>
          <a:prstGeom prst="rect">
            <a:avLst/>
          </a:prstGeom>
          <a:noFill/>
          <a:ln/>
        </p:spPr>
        <p:txBody>
          <a:bodyPr wrap="square" rtlCol="0" anchor="ctr"/>
          <a:lstStyle/>
          <a:p>
            <a:pPr marL="0" indent="0">
              <a:lnSpc>
                <a:spcPct val="115000"/>
              </a:lnSpc>
              <a:buNone/>
            </a:pPr>
            <a:r>
              <a:rPr lang="en-US" sz="1150" dirty="0">
                <a:solidFill>
                  <a:srgbClr val="222E3D"/>
                </a:solidFill>
                <a:latin typeface="Calibri" pitchFamily="34" charset="0"/>
                <a:ea typeface="Calibri" pitchFamily="34" charset="-122"/>
                <a:cs typeface="Calibri" pitchFamily="34" charset="-120"/>
              </a:rPr>
              <a:t>Self paced introduction to AI, Python and data analytics. Normally about USD 900, fully covered through a registration code.</a:t>
            </a:r>
            <a:endParaRPr lang="en-US" sz="1150" dirty="0"/>
          </a:p>
        </p:txBody>
      </p:sp>
      <p:sp>
        <p:nvSpPr>
          <p:cNvPr id="12" name="Shape 8"/>
          <p:cNvSpPr/>
          <p:nvPr/>
        </p:nvSpPr>
        <p:spPr>
          <a:xfrm>
            <a:off x="502920" y="3611880"/>
            <a:ext cx="11155680" cy="1188720"/>
          </a:xfrm>
          <a:prstGeom prst="roundRect">
            <a:avLst>
              <a:gd name="adj" fmla="val 6923"/>
            </a:avLst>
          </a:prstGeom>
          <a:solidFill>
            <a:srgbClr val="F4F8FB"/>
          </a:solidFill>
          <a:ln w="12700">
            <a:solidFill>
              <a:srgbClr val="DCE6EF"/>
            </a:solidFill>
            <a:prstDash val="solid"/>
          </a:ln>
        </p:spPr>
        <p:txBody>
          <a:bodyPr/>
          <a:lstStyle/>
          <a:p>
            <a:endParaRPr lang="en-US"/>
          </a:p>
        </p:txBody>
      </p:sp>
      <p:sp>
        <p:nvSpPr>
          <p:cNvPr id="13" name="Shape 9"/>
          <p:cNvSpPr/>
          <p:nvPr/>
        </p:nvSpPr>
        <p:spPr>
          <a:xfrm>
            <a:off x="822960" y="3886200"/>
            <a:ext cx="640080" cy="640080"/>
          </a:xfrm>
          <a:prstGeom prst="ellipse">
            <a:avLst/>
          </a:prstGeom>
          <a:solidFill>
            <a:srgbClr val="0B1F3A"/>
          </a:solidFill>
          <a:ln/>
        </p:spPr>
        <p:txBody>
          <a:bodyPr/>
          <a:lstStyle/>
          <a:p>
            <a:endParaRPr lang="en-US"/>
          </a:p>
        </p:txBody>
      </p:sp>
      <p:sp>
        <p:nvSpPr>
          <p:cNvPr id="14" name="Text 10"/>
          <p:cNvSpPr txBox="1"/>
          <p:nvPr/>
        </p:nvSpPr>
        <p:spPr>
          <a:xfrm>
            <a:off x="822960" y="3886200"/>
            <a:ext cx="640080" cy="640080"/>
          </a:xfrm>
          <a:prstGeom prst="rect">
            <a:avLst/>
          </a:prstGeom>
          <a:noFill/>
          <a:ln/>
        </p:spPr>
        <p:txBody>
          <a:bodyPr wrap="square" rtlCol="0" anchor="ctr"/>
          <a:lstStyle/>
          <a:p>
            <a:pPr marL="0" indent="0" algn="ctr">
              <a:buNone/>
            </a:pPr>
            <a:r>
              <a:rPr lang="en-US" sz="2000" b="1" dirty="0">
                <a:solidFill>
                  <a:srgbClr val="F4D218"/>
                </a:solidFill>
                <a:latin typeface="Calibri" pitchFamily="34" charset="0"/>
                <a:ea typeface="Calibri" pitchFamily="34" charset="-122"/>
                <a:cs typeface="Calibri" pitchFamily="34" charset="-120"/>
              </a:rPr>
              <a:t>2</a:t>
            </a:r>
            <a:endParaRPr lang="en-US" sz="2000" dirty="0"/>
          </a:p>
        </p:txBody>
      </p:sp>
      <p:sp>
        <p:nvSpPr>
          <p:cNvPr id="15" name="Text 11"/>
          <p:cNvSpPr txBox="1"/>
          <p:nvPr/>
        </p:nvSpPr>
        <p:spPr>
          <a:xfrm>
            <a:off x="1691640" y="3758184"/>
            <a:ext cx="9601200" cy="320040"/>
          </a:xfrm>
          <a:prstGeom prst="rect">
            <a:avLst/>
          </a:prstGeom>
          <a:noFill/>
          <a:ln/>
        </p:spPr>
        <p:txBody>
          <a:bodyPr wrap="square"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Wadhwani Foundation: entrepreneurship</a:t>
            </a:r>
            <a:endParaRPr lang="en-US" sz="1450" dirty="0"/>
          </a:p>
        </p:txBody>
      </p:sp>
      <p:sp>
        <p:nvSpPr>
          <p:cNvPr id="16" name="Text 12"/>
          <p:cNvSpPr txBox="1"/>
          <p:nvPr/>
        </p:nvSpPr>
        <p:spPr>
          <a:xfrm>
            <a:off x="1691640" y="4105656"/>
            <a:ext cx="9601200" cy="621792"/>
          </a:xfrm>
          <a:prstGeom prst="rect">
            <a:avLst/>
          </a:prstGeom>
          <a:noFill/>
          <a:ln/>
        </p:spPr>
        <p:txBody>
          <a:bodyPr wrap="square" rtlCol="0" anchor="ctr"/>
          <a:lstStyle/>
          <a:p>
            <a:pPr marL="0" indent="0">
              <a:lnSpc>
                <a:spcPct val="115000"/>
              </a:lnSpc>
              <a:buNone/>
            </a:pPr>
            <a:r>
              <a:rPr lang="en-US" sz="1150" dirty="0">
                <a:solidFill>
                  <a:srgbClr val="222E3D"/>
                </a:solidFill>
                <a:latin typeface="Calibri" pitchFamily="34" charset="0"/>
                <a:ea typeface="Calibri" pitchFamily="34" charset="-122"/>
                <a:cs typeface="Calibri" pitchFamily="34" charset="-120"/>
              </a:rPr>
              <a:t>A 14 week instructor led journey from idea to a validated business model, with live sessions twice a week and mentorship.</a:t>
            </a:r>
            <a:endParaRPr lang="en-US" sz="1150" dirty="0"/>
          </a:p>
        </p:txBody>
      </p:sp>
      <p:sp>
        <p:nvSpPr>
          <p:cNvPr id="17" name="Shape 13"/>
          <p:cNvSpPr/>
          <p:nvPr/>
        </p:nvSpPr>
        <p:spPr>
          <a:xfrm>
            <a:off x="502920" y="4983480"/>
            <a:ext cx="11155680" cy="1188720"/>
          </a:xfrm>
          <a:prstGeom prst="roundRect">
            <a:avLst>
              <a:gd name="adj" fmla="val 6923"/>
            </a:avLst>
          </a:prstGeom>
          <a:solidFill>
            <a:srgbClr val="F4F8FB"/>
          </a:solidFill>
          <a:ln w="12700">
            <a:solidFill>
              <a:srgbClr val="DCE6EF"/>
            </a:solidFill>
            <a:prstDash val="solid"/>
          </a:ln>
        </p:spPr>
        <p:txBody>
          <a:bodyPr/>
          <a:lstStyle/>
          <a:p>
            <a:endParaRPr lang="en-US"/>
          </a:p>
        </p:txBody>
      </p:sp>
      <p:sp>
        <p:nvSpPr>
          <p:cNvPr id="18" name="Shape 14"/>
          <p:cNvSpPr/>
          <p:nvPr/>
        </p:nvSpPr>
        <p:spPr>
          <a:xfrm>
            <a:off x="822960" y="5257800"/>
            <a:ext cx="640080" cy="640080"/>
          </a:xfrm>
          <a:prstGeom prst="ellipse">
            <a:avLst/>
          </a:prstGeom>
          <a:solidFill>
            <a:srgbClr val="0B1F3A"/>
          </a:solidFill>
          <a:ln/>
        </p:spPr>
        <p:txBody>
          <a:bodyPr/>
          <a:lstStyle/>
          <a:p>
            <a:endParaRPr lang="en-US"/>
          </a:p>
        </p:txBody>
      </p:sp>
      <p:sp>
        <p:nvSpPr>
          <p:cNvPr id="19" name="Text 15"/>
          <p:cNvSpPr txBox="1"/>
          <p:nvPr/>
        </p:nvSpPr>
        <p:spPr>
          <a:xfrm>
            <a:off x="822960" y="5257800"/>
            <a:ext cx="640080" cy="640080"/>
          </a:xfrm>
          <a:prstGeom prst="rect">
            <a:avLst/>
          </a:prstGeom>
          <a:noFill/>
          <a:ln/>
        </p:spPr>
        <p:txBody>
          <a:bodyPr wrap="square" rtlCol="0" anchor="ctr"/>
          <a:lstStyle/>
          <a:p>
            <a:pPr marL="0" indent="0" algn="ctr">
              <a:buNone/>
            </a:pPr>
            <a:r>
              <a:rPr lang="en-US" sz="2000" b="1" dirty="0">
                <a:solidFill>
                  <a:srgbClr val="F4D218"/>
                </a:solidFill>
                <a:latin typeface="Calibri" pitchFamily="34" charset="0"/>
                <a:ea typeface="Calibri" pitchFamily="34" charset="-122"/>
                <a:cs typeface="Calibri" pitchFamily="34" charset="-120"/>
              </a:rPr>
              <a:t>3</a:t>
            </a:r>
            <a:endParaRPr lang="en-US" sz="2000" dirty="0"/>
          </a:p>
        </p:txBody>
      </p:sp>
      <p:sp>
        <p:nvSpPr>
          <p:cNvPr id="20" name="Text 16"/>
          <p:cNvSpPr txBox="1"/>
          <p:nvPr/>
        </p:nvSpPr>
        <p:spPr>
          <a:xfrm>
            <a:off x="1691640" y="5129784"/>
            <a:ext cx="9601200" cy="320040"/>
          </a:xfrm>
          <a:prstGeom prst="rect">
            <a:avLst/>
          </a:prstGeom>
          <a:noFill/>
          <a:ln/>
        </p:spPr>
        <p:txBody>
          <a:bodyPr wrap="square"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Ethiopian AI Institute: advanced AI</a:t>
            </a:r>
            <a:endParaRPr lang="en-US" sz="1450" dirty="0"/>
          </a:p>
        </p:txBody>
      </p:sp>
      <p:sp>
        <p:nvSpPr>
          <p:cNvPr id="21" name="Text 17"/>
          <p:cNvSpPr txBox="1"/>
          <p:nvPr/>
        </p:nvSpPr>
        <p:spPr>
          <a:xfrm>
            <a:off x="1691640" y="5477256"/>
            <a:ext cx="9601200" cy="621792"/>
          </a:xfrm>
          <a:prstGeom prst="rect">
            <a:avLst/>
          </a:prstGeom>
          <a:noFill/>
          <a:ln/>
        </p:spPr>
        <p:txBody>
          <a:bodyPr wrap="square" rtlCol="0" anchor="ctr"/>
          <a:lstStyle/>
          <a:p>
            <a:pPr marL="0" indent="0">
              <a:lnSpc>
                <a:spcPct val="115000"/>
              </a:lnSpc>
              <a:buNone/>
            </a:pPr>
            <a:r>
              <a:rPr lang="en-US" sz="1150" dirty="0">
                <a:solidFill>
                  <a:srgbClr val="222E3D"/>
                </a:solidFill>
                <a:latin typeface="Calibri" pitchFamily="34" charset="0"/>
                <a:ea typeface="Calibri" pitchFamily="34" charset="-122"/>
                <a:cs typeface="Calibri" pitchFamily="34" charset="-120"/>
              </a:rPr>
              <a:t>Three months of intermediate to advanced AI content, leading to an in person bootcamp in Addis Ababa for the strongest teams.</a:t>
            </a:r>
            <a:endParaRPr lang="en-US" sz="1150" dirty="0"/>
          </a:p>
        </p:txBody>
      </p:sp>
      <p:sp>
        <p:nvSpPr>
          <p:cNvPr id="22" name="Text 18"/>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23" name="Text 19"/>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THE PROGRAMME</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Key dates ahead</a:t>
            </a:r>
            <a:endParaRPr lang="en-US" sz="2700" dirty="0"/>
          </a:p>
        </p:txBody>
      </p:sp>
      <p:sp>
        <p:nvSpPr>
          <p:cNvPr id="7" name="Shape 3"/>
          <p:cNvSpPr/>
          <p:nvPr/>
        </p:nvSpPr>
        <p:spPr>
          <a:xfrm>
            <a:off x="685800" y="3429000"/>
            <a:ext cx="10835640" cy="0"/>
          </a:xfrm>
          <a:prstGeom prst="line">
            <a:avLst/>
          </a:prstGeom>
          <a:noFill/>
          <a:ln w="25400">
            <a:solidFill>
              <a:srgbClr val="DCE6EF"/>
            </a:solidFill>
            <a:prstDash val="solid"/>
          </a:ln>
        </p:spPr>
        <p:txBody>
          <a:bodyPr/>
          <a:lstStyle/>
          <a:p>
            <a:endParaRPr lang="en-US"/>
          </a:p>
        </p:txBody>
      </p:sp>
      <p:sp>
        <p:nvSpPr>
          <p:cNvPr id="8" name="Shape 4"/>
          <p:cNvSpPr/>
          <p:nvPr/>
        </p:nvSpPr>
        <p:spPr>
          <a:xfrm>
            <a:off x="62179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9" name="Text 5"/>
          <p:cNvSpPr txBox="1"/>
          <p:nvPr/>
        </p:nvSpPr>
        <p:spPr>
          <a:xfrm>
            <a:off x="274320" y="2194560"/>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8 Sep</a:t>
            </a:r>
            <a:endParaRPr lang="en-US" sz="1200" dirty="0"/>
          </a:p>
        </p:txBody>
      </p:sp>
      <p:sp>
        <p:nvSpPr>
          <p:cNvPr id="10" name="Text 6"/>
          <p:cNvSpPr txBox="1"/>
          <p:nvPr/>
        </p:nvSpPr>
        <p:spPr>
          <a:xfrm>
            <a:off x="274320" y="2468880"/>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Welcome and onboarding call</a:t>
            </a:r>
            <a:endParaRPr lang="en-US" sz="950" dirty="0"/>
          </a:p>
        </p:txBody>
      </p:sp>
      <p:sp>
        <p:nvSpPr>
          <p:cNvPr id="11" name="Shape 7"/>
          <p:cNvSpPr/>
          <p:nvPr/>
        </p:nvSpPr>
        <p:spPr>
          <a:xfrm>
            <a:off x="182575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12" name="Text 8"/>
          <p:cNvSpPr txBox="1"/>
          <p:nvPr/>
        </p:nvSpPr>
        <p:spPr>
          <a:xfrm>
            <a:off x="1089660" y="3593592"/>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10 Sep</a:t>
            </a:r>
            <a:endParaRPr lang="en-US" sz="1200" dirty="0"/>
          </a:p>
        </p:txBody>
      </p:sp>
      <p:sp>
        <p:nvSpPr>
          <p:cNvPr id="13" name="Text 9"/>
          <p:cNvSpPr txBox="1"/>
          <p:nvPr/>
        </p:nvSpPr>
        <p:spPr>
          <a:xfrm>
            <a:off x="1089660" y="3867912"/>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Wadhwani welcome session</a:t>
            </a:r>
            <a:endParaRPr lang="en-US" sz="950" dirty="0"/>
          </a:p>
        </p:txBody>
      </p:sp>
      <p:sp>
        <p:nvSpPr>
          <p:cNvPr id="14" name="Shape 10"/>
          <p:cNvSpPr/>
          <p:nvPr/>
        </p:nvSpPr>
        <p:spPr>
          <a:xfrm>
            <a:off x="302971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15" name="Text 11"/>
          <p:cNvSpPr txBox="1"/>
          <p:nvPr/>
        </p:nvSpPr>
        <p:spPr>
          <a:xfrm>
            <a:off x="2293620" y="2194560"/>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14 Sep</a:t>
            </a:r>
            <a:endParaRPr lang="en-US" sz="1200" dirty="0"/>
          </a:p>
        </p:txBody>
      </p:sp>
      <p:sp>
        <p:nvSpPr>
          <p:cNvPr id="16" name="Text 12"/>
          <p:cNvSpPr txBox="1"/>
          <p:nvPr/>
        </p:nvSpPr>
        <p:spPr>
          <a:xfrm>
            <a:off x="2293620" y="2468880"/>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MIT foundational AI course opens</a:t>
            </a:r>
            <a:endParaRPr lang="en-US" sz="950" dirty="0"/>
          </a:p>
        </p:txBody>
      </p:sp>
      <p:sp>
        <p:nvSpPr>
          <p:cNvPr id="17" name="Shape 13"/>
          <p:cNvSpPr/>
          <p:nvPr/>
        </p:nvSpPr>
        <p:spPr>
          <a:xfrm>
            <a:off x="423367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18" name="Text 14"/>
          <p:cNvSpPr txBox="1"/>
          <p:nvPr/>
        </p:nvSpPr>
        <p:spPr>
          <a:xfrm>
            <a:off x="3497580" y="3593592"/>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15 Sep</a:t>
            </a:r>
            <a:endParaRPr lang="en-US" sz="1200" dirty="0"/>
          </a:p>
        </p:txBody>
      </p:sp>
      <p:sp>
        <p:nvSpPr>
          <p:cNvPr id="19" name="Text 15"/>
          <p:cNvSpPr txBox="1"/>
          <p:nvPr/>
        </p:nvSpPr>
        <p:spPr>
          <a:xfrm>
            <a:off x="3497580" y="3867912"/>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Wadhwani 14 week programme begins</a:t>
            </a:r>
            <a:endParaRPr lang="en-US" sz="950" dirty="0"/>
          </a:p>
        </p:txBody>
      </p:sp>
      <p:sp>
        <p:nvSpPr>
          <p:cNvPr id="20" name="Shape 16"/>
          <p:cNvSpPr/>
          <p:nvPr/>
        </p:nvSpPr>
        <p:spPr>
          <a:xfrm>
            <a:off x="543763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21" name="Text 17"/>
          <p:cNvSpPr txBox="1"/>
          <p:nvPr/>
        </p:nvSpPr>
        <p:spPr>
          <a:xfrm>
            <a:off x="4701540" y="2194560"/>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18 Oct</a:t>
            </a:r>
            <a:endParaRPr lang="en-US" sz="1200" dirty="0"/>
          </a:p>
        </p:txBody>
      </p:sp>
      <p:sp>
        <p:nvSpPr>
          <p:cNvPr id="22" name="Text 18"/>
          <p:cNvSpPr txBox="1"/>
          <p:nvPr/>
        </p:nvSpPr>
        <p:spPr>
          <a:xfrm>
            <a:off x="4701540" y="2468880"/>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MIT course completion expected</a:t>
            </a:r>
            <a:endParaRPr lang="en-US" sz="950" dirty="0"/>
          </a:p>
        </p:txBody>
      </p:sp>
      <p:sp>
        <p:nvSpPr>
          <p:cNvPr id="23" name="Shape 19"/>
          <p:cNvSpPr/>
          <p:nvPr/>
        </p:nvSpPr>
        <p:spPr>
          <a:xfrm>
            <a:off x="664159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24" name="Text 20"/>
          <p:cNvSpPr txBox="1"/>
          <p:nvPr/>
        </p:nvSpPr>
        <p:spPr>
          <a:xfrm>
            <a:off x="5905500" y="3593592"/>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25 Oct</a:t>
            </a:r>
            <a:endParaRPr lang="en-US" sz="1200" dirty="0"/>
          </a:p>
        </p:txBody>
      </p:sp>
      <p:sp>
        <p:nvSpPr>
          <p:cNvPr id="25" name="Text 21"/>
          <p:cNvSpPr txBox="1"/>
          <p:nvPr/>
        </p:nvSpPr>
        <p:spPr>
          <a:xfrm>
            <a:off x="5905500" y="3867912"/>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Workplan submission deadline</a:t>
            </a:r>
            <a:endParaRPr lang="en-US" sz="950" dirty="0"/>
          </a:p>
        </p:txBody>
      </p:sp>
      <p:sp>
        <p:nvSpPr>
          <p:cNvPr id="26" name="Shape 22"/>
          <p:cNvSpPr/>
          <p:nvPr/>
        </p:nvSpPr>
        <p:spPr>
          <a:xfrm>
            <a:off x="784555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27" name="Text 23"/>
          <p:cNvSpPr txBox="1"/>
          <p:nvPr/>
        </p:nvSpPr>
        <p:spPr>
          <a:xfrm>
            <a:off x="7109460" y="2194560"/>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26 Oct</a:t>
            </a:r>
            <a:endParaRPr lang="en-US" sz="1200" dirty="0"/>
          </a:p>
        </p:txBody>
      </p:sp>
      <p:sp>
        <p:nvSpPr>
          <p:cNvPr id="28" name="Text 24"/>
          <p:cNvSpPr txBox="1"/>
          <p:nvPr/>
        </p:nvSpPr>
        <p:spPr>
          <a:xfrm>
            <a:off x="7109460" y="2468880"/>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Ethiopian AI Institute programme begins</a:t>
            </a:r>
            <a:endParaRPr lang="en-US" sz="950" dirty="0"/>
          </a:p>
        </p:txBody>
      </p:sp>
      <p:sp>
        <p:nvSpPr>
          <p:cNvPr id="29" name="Shape 25"/>
          <p:cNvSpPr/>
          <p:nvPr/>
        </p:nvSpPr>
        <p:spPr>
          <a:xfrm>
            <a:off x="904951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30" name="Text 26"/>
          <p:cNvSpPr txBox="1"/>
          <p:nvPr/>
        </p:nvSpPr>
        <p:spPr>
          <a:xfrm>
            <a:off x="8313420" y="3593592"/>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23 Nov</a:t>
            </a:r>
            <a:endParaRPr lang="en-US" sz="1200" dirty="0"/>
          </a:p>
        </p:txBody>
      </p:sp>
      <p:sp>
        <p:nvSpPr>
          <p:cNvPr id="31" name="Text 27"/>
          <p:cNvSpPr txBox="1"/>
          <p:nvPr/>
        </p:nvSpPr>
        <p:spPr>
          <a:xfrm>
            <a:off x="8313420" y="3867912"/>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50 teams selected for the bootcamp</a:t>
            </a:r>
            <a:endParaRPr lang="en-US" sz="950" dirty="0"/>
          </a:p>
        </p:txBody>
      </p:sp>
      <p:sp>
        <p:nvSpPr>
          <p:cNvPr id="32" name="Shape 28"/>
          <p:cNvSpPr/>
          <p:nvPr/>
        </p:nvSpPr>
        <p:spPr>
          <a:xfrm>
            <a:off x="1025347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33" name="Text 29"/>
          <p:cNvSpPr txBox="1"/>
          <p:nvPr/>
        </p:nvSpPr>
        <p:spPr>
          <a:xfrm>
            <a:off x="9517380" y="2194560"/>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 Dec</a:t>
            </a:r>
            <a:endParaRPr lang="en-US" sz="1200" dirty="0"/>
          </a:p>
        </p:txBody>
      </p:sp>
      <p:sp>
        <p:nvSpPr>
          <p:cNvPr id="34" name="Text 30"/>
          <p:cNvSpPr txBox="1"/>
          <p:nvPr/>
        </p:nvSpPr>
        <p:spPr>
          <a:xfrm>
            <a:off x="9517380" y="2468880"/>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Addis Ababa bootcamp opens</a:t>
            </a:r>
            <a:endParaRPr lang="en-US" sz="950" dirty="0"/>
          </a:p>
        </p:txBody>
      </p:sp>
      <p:sp>
        <p:nvSpPr>
          <p:cNvPr id="35" name="Shape 31"/>
          <p:cNvSpPr/>
          <p:nvPr/>
        </p:nvSpPr>
        <p:spPr>
          <a:xfrm>
            <a:off x="11457432" y="3364992"/>
            <a:ext cx="128016" cy="128016"/>
          </a:xfrm>
          <a:prstGeom prst="ellipse">
            <a:avLst/>
          </a:prstGeom>
          <a:solidFill>
            <a:srgbClr val="1E9ED9"/>
          </a:solidFill>
          <a:ln w="19050">
            <a:solidFill>
              <a:srgbClr val="FFFFFF"/>
            </a:solidFill>
            <a:prstDash val="solid"/>
          </a:ln>
        </p:spPr>
        <p:txBody>
          <a:bodyPr/>
          <a:lstStyle/>
          <a:p>
            <a:endParaRPr lang="en-US"/>
          </a:p>
        </p:txBody>
      </p:sp>
      <p:sp>
        <p:nvSpPr>
          <p:cNvPr id="36" name="Text 32"/>
          <p:cNvSpPr txBox="1"/>
          <p:nvPr/>
        </p:nvSpPr>
        <p:spPr>
          <a:xfrm>
            <a:off x="10317175" y="3593592"/>
            <a:ext cx="1600200" cy="274320"/>
          </a:xfrm>
          <a:prstGeom prst="rect">
            <a:avLst/>
          </a:prstGeom>
          <a:noFill/>
          <a:ln/>
        </p:spPr>
        <p:txBody>
          <a:bodyPr wrap="square"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17 Dec</a:t>
            </a:r>
            <a:endParaRPr lang="en-US" sz="1200" dirty="0"/>
          </a:p>
        </p:txBody>
      </p:sp>
      <p:sp>
        <p:nvSpPr>
          <p:cNvPr id="37" name="Text 33"/>
          <p:cNvSpPr txBox="1"/>
          <p:nvPr/>
        </p:nvSpPr>
        <p:spPr>
          <a:xfrm>
            <a:off x="10317175" y="3867912"/>
            <a:ext cx="1600200" cy="777240"/>
          </a:xfrm>
          <a:prstGeom prst="rect">
            <a:avLst/>
          </a:prstGeom>
          <a:noFill/>
          <a:ln/>
        </p:spPr>
        <p:txBody>
          <a:bodyPr wrap="square" rtlCol="0" anchor="ctr"/>
          <a:lstStyle/>
          <a:p>
            <a:pPr marL="0" indent="0" algn="ctr">
              <a:lnSpc>
                <a:spcPct val="110000"/>
              </a:lnSpc>
              <a:buNone/>
            </a:pPr>
            <a:r>
              <a:rPr lang="en-US" sz="950" dirty="0">
                <a:solidFill>
                  <a:srgbClr val="5B6B7C"/>
                </a:solidFill>
                <a:latin typeface="Calibri" pitchFamily="34" charset="0"/>
                <a:ea typeface="Calibri" pitchFamily="34" charset="-122"/>
                <a:cs typeface="Calibri" pitchFamily="34" charset="-120"/>
              </a:rPr>
              <a:t>Wadhwani programme concludes</a:t>
            </a:r>
            <a:endParaRPr lang="en-US" sz="950" dirty="0"/>
          </a:p>
        </p:txBody>
      </p:sp>
      <p:sp>
        <p:nvSpPr>
          <p:cNvPr id="38" name="Text 34"/>
          <p:cNvSpPr txBox="1"/>
          <p:nvPr/>
        </p:nvSpPr>
        <p:spPr>
          <a:xfrm>
            <a:off x="502920" y="5989320"/>
            <a:ext cx="10058400" cy="365760"/>
          </a:xfrm>
          <a:prstGeom prst="rect">
            <a:avLst/>
          </a:prstGeom>
          <a:noFill/>
          <a:ln/>
        </p:spPr>
        <p:txBody>
          <a:bodyPr wrap="square" rtlCol="0" anchor="ctr"/>
          <a:lstStyle/>
          <a:p>
            <a:pPr marL="0" indent="0">
              <a:buNone/>
            </a:pPr>
            <a:r>
              <a:rPr lang="en-US" sz="1100" i="1" dirty="0">
                <a:solidFill>
                  <a:srgbClr val="5B6B7C"/>
                </a:solidFill>
                <a:latin typeface="Calibri" pitchFamily="34" charset="0"/>
                <a:ea typeface="Calibri" pitchFamily="34" charset="-122"/>
                <a:cs typeface="Calibri" pitchFamily="34" charset="-120"/>
              </a:rPr>
              <a:t>All dates for 2026. Any changes are communicated through the WhatsApp group and by email.</a:t>
            </a:r>
            <a:endParaRPr lang="en-US" sz="1100" dirty="0"/>
          </a:p>
        </p:txBody>
      </p:sp>
      <p:sp>
        <p:nvSpPr>
          <p:cNvPr id="39" name="Text 35"/>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40" name="Text 36"/>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667512" y="48463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277295" y="329184"/>
            <a:ext cx="225743" cy="457200"/>
          </a:xfrm>
          <a:prstGeom prst="rect">
            <a:avLst/>
          </a:prstGeom>
        </p:spPr>
      </p:pic>
      <p:sp>
        <p:nvSpPr>
          <p:cNvPr id="5" name="Text 1"/>
          <p:cNvSpPr txBox="1"/>
          <p:nvPr/>
        </p:nvSpPr>
        <p:spPr>
          <a:xfrm>
            <a:off x="502920" y="1234440"/>
            <a:ext cx="9144000" cy="292608"/>
          </a:xfrm>
          <a:prstGeom prst="rect">
            <a:avLst/>
          </a:prstGeom>
          <a:noFill/>
          <a:ln/>
        </p:spPr>
        <p:txBody>
          <a:bodyPr wrap="square" rtlCol="0" anchor="ctr"/>
          <a:lstStyle/>
          <a:p>
            <a:pPr marL="0" indent="0">
              <a:buNone/>
            </a:pPr>
            <a:r>
              <a:rPr lang="en-US" sz="1200" b="1" kern="0" spc="100" dirty="0">
                <a:solidFill>
                  <a:srgbClr val="1E9ED9"/>
                </a:solidFill>
                <a:latin typeface="Calibri" pitchFamily="34" charset="0"/>
                <a:ea typeface="Calibri" pitchFamily="34" charset="-122"/>
                <a:cs typeface="Calibri" pitchFamily="34" charset="-120"/>
              </a:rPr>
              <a:t>THE PROGRAMME</a:t>
            </a:r>
            <a:endParaRPr lang="en-US" sz="1200" dirty="0"/>
          </a:p>
        </p:txBody>
      </p:sp>
      <p:sp>
        <p:nvSpPr>
          <p:cNvPr id="6" name="Text 2"/>
          <p:cNvSpPr txBox="1"/>
          <p:nvPr/>
        </p:nvSpPr>
        <p:spPr>
          <a:xfrm>
            <a:off x="502920" y="1481328"/>
            <a:ext cx="10515600" cy="640080"/>
          </a:xfrm>
          <a:prstGeom prst="rect">
            <a:avLst/>
          </a:prstGeom>
          <a:noFill/>
          <a:ln/>
        </p:spPr>
        <p:txBody>
          <a:bodyPr wrap="square" rtlCol="0" anchor="ctr"/>
          <a:lstStyle/>
          <a:p>
            <a:pPr marL="0" indent="0">
              <a:buNone/>
            </a:pPr>
            <a:r>
              <a:rPr lang="en-US" sz="2700" b="1" dirty="0">
                <a:solidFill>
                  <a:srgbClr val="0B1F3A"/>
                </a:solidFill>
                <a:latin typeface="Calibri" pitchFamily="34" charset="0"/>
                <a:ea typeface="Calibri" pitchFamily="34" charset="-122"/>
                <a:cs typeface="Calibri" pitchFamily="34" charset="-120"/>
              </a:rPr>
              <a:t>UniPod Rwanda pilots an Innovators Meetup</a:t>
            </a:r>
            <a:endParaRPr lang="en-US" sz="2700" dirty="0"/>
          </a:p>
        </p:txBody>
      </p:sp>
      <p:sp>
        <p:nvSpPr>
          <p:cNvPr id="7" name="Shape 3"/>
          <p:cNvSpPr/>
          <p:nvPr/>
        </p:nvSpPr>
        <p:spPr>
          <a:xfrm>
            <a:off x="502920" y="2331720"/>
            <a:ext cx="3291840" cy="3429000"/>
          </a:xfrm>
          <a:prstGeom prst="roundRect">
            <a:avLst>
              <a:gd name="adj" fmla="val 2778"/>
            </a:avLst>
          </a:prstGeom>
          <a:solidFill>
            <a:srgbClr val="0B1F3A"/>
          </a:solidFill>
          <a:ln/>
        </p:spPr>
        <p:txBody>
          <a:bodyPr/>
          <a:lstStyle/>
          <a:p>
            <a:endParaRPr lang="en-US"/>
          </a:p>
        </p:txBody>
      </p:sp>
      <p:sp>
        <p:nvSpPr>
          <p:cNvPr id="8" name="Text 4"/>
          <p:cNvSpPr txBox="1"/>
          <p:nvPr/>
        </p:nvSpPr>
        <p:spPr>
          <a:xfrm>
            <a:off x="502920" y="2697480"/>
            <a:ext cx="3291840" cy="320040"/>
          </a:xfrm>
          <a:prstGeom prst="rect">
            <a:avLst/>
          </a:prstGeom>
          <a:noFill/>
          <a:ln/>
        </p:spPr>
        <p:txBody>
          <a:bodyPr wrap="square" rtlCol="0" anchor="ctr"/>
          <a:lstStyle/>
          <a:p>
            <a:pPr marL="0" indent="0" algn="ctr">
              <a:buNone/>
            </a:pPr>
            <a:r>
              <a:rPr lang="en-US" sz="1300" b="1" kern="0" spc="100" dirty="0">
                <a:solidFill>
                  <a:srgbClr val="F4D218"/>
                </a:solidFill>
                <a:latin typeface="Calibri" pitchFamily="34" charset="0"/>
                <a:ea typeface="Calibri" pitchFamily="34" charset="-122"/>
                <a:cs typeface="Calibri" pitchFamily="34" charset="-120"/>
              </a:rPr>
              <a:t>FRIDAY</a:t>
            </a:r>
            <a:endParaRPr lang="en-US" sz="1300" dirty="0"/>
          </a:p>
        </p:txBody>
      </p:sp>
      <p:sp>
        <p:nvSpPr>
          <p:cNvPr id="9" name="Text 5"/>
          <p:cNvSpPr txBox="1"/>
          <p:nvPr/>
        </p:nvSpPr>
        <p:spPr>
          <a:xfrm>
            <a:off x="502920" y="2971800"/>
            <a:ext cx="3291840" cy="1188720"/>
          </a:xfrm>
          <a:prstGeom prst="rect">
            <a:avLst/>
          </a:prstGeom>
          <a:noFill/>
          <a:ln/>
        </p:spPr>
        <p:txBody>
          <a:bodyPr wrap="square" rtlCol="0" anchor="ctr"/>
          <a:lstStyle/>
          <a:p>
            <a:pPr marL="0" indent="0" algn="ctr">
              <a:buNone/>
            </a:pPr>
            <a:r>
              <a:rPr lang="en-US" sz="8000" b="1" dirty="0">
                <a:solidFill>
                  <a:srgbClr val="FFFFFF"/>
                </a:solidFill>
                <a:latin typeface="Calibri" pitchFamily="34" charset="0"/>
                <a:ea typeface="Calibri" pitchFamily="34" charset="-122"/>
                <a:cs typeface="Calibri" pitchFamily="34" charset="-120"/>
              </a:rPr>
              <a:t>11</a:t>
            </a:r>
            <a:endParaRPr lang="en-US" sz="8000" dirty="0"/>
          </a:p>
        </p:txBody>
      </p:sp>
      <p:sp>
        <p:nvSpPr>
          <p:cNvPr id="10" name="Text 6"/>
          <p:cNvSpPr txBox="1"/>
          <p:nvPr/>
        </p:nvSpPr>
        <p:spPr>
          <a:xfrm>
            <a:off x="502920" y="4160520"/>
            <a:ext cx="3291840" cy="320040"/>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SEPTEMBER 2026</a:t>
            </a:r>
            <a:endParaRPr lang="en-US" sz="1300" dirty="0"/>
          </a:p>
        </p:txBody>
      </p:sp>
      <p:sp>
        <p:nvSpPr>
          <p:cNvPr id="11" name="Text 7"/>
          <p:cNvSpPr txBox="1"/>
          <p:nvPr/>
        </p:nvSpPr>
        <p:spPr>
          <a:xfrm>
            <a:off x="502920" y="4892040"/>
            <a:ext cx="3291840" cy="411480"/>
          </a:xfrm>
          <a:prstGeom prst="rect">
            <a:avLst/>
          </a:prstGeom>
          <a:noFill/>
          <a:ln/>
        </p:spPr>
        <p:txBody>
          <a:bodyPr wrap="square" rtlCol="0" anchor="ctr"/>
          <a:lstStyle/>
          <a:p>
            <a:pPr marL="0" indent="0" algn="ctr">
              <a:buNone/>
            </a:pPr>
            <a:r>
              <a:rPr lang="en-US" sz="1500" dirty="0">
                <a:solidFill>
                  <a:srgbClr val="AEC3D6"/>
                </a:solidFill>
                <a:latin typeface="Calibri" pitchFamily="34" charset="0"/>
                <a:ea typeface="Calibri" pitchFamily="34" charset="-122"/>
                <a:cs typeface="Calibri" pitchFamily="34" charset="-120"/>
              </a:rPr>
              <a:t>4:00 PM – 6:00 PM</a:t>
            </a:r>
            <a:endParaRPr lang="en-US" sz="1500" dirty="0"/>
          </a:p>
        </p:txBody>
      </p:sp>
      <p:sp>
        <p:nvSpPr>
          <p:cNvPr id="12" name="Text 8"/>
          <p:cNvSpPr txBox="1"/>
          <p:nvPr/>
        </p:nvSpPr>
        <p:spPr>
          <a:xfrm>
            <a:off x="4160520" y="2286000"/>
            <a:ext cx="6858000" cy="237744"/>
          </a:xfrm>
          <a:prstGeom prst="rect">
            <a:avLst/>
          </a:prstGeom>
          <a:noFill/>
          <a:ln/>
        </p:spPr>
        <p:txBody>
          <a:bodyPr wrap="square" rtlCol="0" anchor="ctr"/>
          <a:lstStyle/>
          <a:p>
            <a:pPr marL="0" indent="0">
              <a:buNone/>
            </a:pPr>
            <a:r>
              <a:rPr lang="en-US" sz="1100" b="1" kern="0" spc="50" dirty="0">
                <a:solidFill>
                  <a:srgbClr val="1E9ED9"/>
                </a:solidFill>
                <a:latin typeface="Calibri" pitchFamily="34" charset="0"/>
                <a:ea typeface="Calibri" pitchFamily="34" charset="-122"/>
                <a:cs typeface="Calibri" pitchFamily="34" charset="-120"/>
              </a:rPr>
              <a:t>HOST</a:t>
            </a:r>
            <a:endParaRPr lang="en-US" sz="1100" dirty="0"/>
          </a:p>
        </p:txBody>
      </p:sp>
      <p:sp>
        <p:nvSpPr>
          <p:cNvPr id="13" name="Text 9"/>
          <p:cNvSpPr txBox="1"/>
          <p:nvPr/>
        </p:nvSpPr>
        <p:spPr>
          <a:xfrm>
            <a:off x="4160520" y="2551176"/>
            <a:ext cx="6858000" cy="502920"/>
          </a:xfrm>
          <a:prstGeom prst="rect">
            <a:avLst/>
          </a:prstGeom>
          <a:noFill/>
          <a:ln/>
        </p:spPr>
        <p:txBody>
          <a:bodyPr wrap="square" rtlCol="0" anchor="ctr"/>
          <a:lstStyle/>
          <a:p>
            <a:pPr marL="0" indent="0">
              <a:lnSpc>
                <a:spcPct val="110000"/>
              </a:lnSpc>
              <a:buNone/>
            </a:pPr>
            <a:r>
              <a:rPr lang="en-US" sz="1400" dirty="0">
                <a:solidFill>
                  <a:srgbClr val="0B1F3A"/>
                </a:solidFill>
                <a:latin typeface="Calibri" pitchFamily="34" charset="0"/>
                <a:ea typeface="Calibri" pitchFamily="34" charset="-122"/>
                <a:cs typeface="Calibri" pitchFamily="34" charset="-120"/>
              </a:rPr>
              <a:t>UniPod Rwanda, University of Rwanda (UR)</a:t>
            </a:r>
            <a:endParaRPr lang="en-US" sz="1400" dirty="0"/>
          </a:p>
        </p:txBody>
      </p:sp>
      <p:sp>
        <p:nvSpPr>
          <p:cNvPr id="14" name="Text 10"/>
          <p:cNvSpPr txBox="1"/>
          <p:nvPr/>
        </p:nvSpPr>
        <p:spPr>
          <a:xfrm>
            <a:off x="4160520" y="2944368"/>
            <a:ext cx="6858000" cy="237744"/>
          </a:xfrm>
          <a:prstGeom prst="rect">
            <a:avLst/>
          </a:prstGeom>
          <a:noFill/>
          <a:ln/>
        </p:spPr>
        <p:txBody>
          <a:bodyPr wrap="square" rtlCol="0" anchor="ctr"/>
          <a:lstStyle/>
          <a:p>
            <a:pPr marL="0" indent="0">
              <a:buNone/>
            </a:pPr>
            <a:r>
              <a:rPr lang="en-US" sz="1100" b="1" kern="0" spc="50" dirty="0">
                <a:solidFill>
                  <a:srgbClr val="1E9ED9"/>
                </a:solidFill>
                <a:latin typeface="Calibri" pitchFamily="34" charset="0"/>
                <a:ea typeface="Calibri" pitchFamily="34" charset="-122"/>
                <a:cs typeface="Calibri" pitchFamily="34" charset="-120"/>
              </a:rPr>
              <a:t>VENUE</a:t>
            </a:r>
            <a:endParaRPr lang="en-US" sz="1100" dirty="0"/>
          </a:p>
        </p:txBody>
      </p:sp>
      <p:sp>
        <p:nvSpPr>
          <p:cNvPr id="15" name="Text 11"/>
          <p:cNvSpPr txBox="1"/>
          <p:nvPr/>
        </p:nvSpPr>
        <p:spPr>
          <a:xfrm>
            <a:off x="4160520" y="3209544"/>
            <a:ext cx="6858000" cy="502920"/>
          </a:xfrm>
          <a:prstGeom prst="rect">
            <a:avLst/>
          </a:prstGeom>
          <a:noFill/>
          <a:ln/>
        </p:spPr>
        <p:txBody>
          <a:bodyPr wrap="square" rtlCol="0" anchor="ctr"/>
          <a:lstStyle/>
          <a:p>
            <a:pPr marL="0" indent="0">
              <a:lnSpc>
                <a:spcPct val="110000"/>
              </a:lnSpc>
              <a:buNone/>
            </a:pPr>
            <a:r>
              <a:rPr lang="en-US" sz="1400" dirty="0">
                <a:solidFill>
                  <a:srgbClr val="0B1F3A"/>
                </a:solidFill>
                <a:latin typeface="Calibri" pitchFamily="34" charset="0"/>
                <a:ea typeface="Calibri" pitchFamily="34" charset="-122"/>
                <a:cs typeface="Calibri" pitchFamily="34" charset="-120"/>
              </a:rPr>
              <a:t>UniPod Rwanda</a:t>
            </a:r>
            <a:endParaRPr lang="en-US" sz="1400" dirty="0"/>
          </a:p>
        </p:txBody>
      </p:sp>
      <p:sp>
        <p:nvSpPr>
          <p:cNvPr id="16" name="Text 12"/>
          <p:cNvSpPr txBox="1"/>
          <p:nvPr/>
        </p:nvSpPr>
        <p:spPr>
          <a:xfrm>
            <a:off x="4160520" y="3602736"/>
            <a:ext cx="6858000" cy="237744"/>
          </a:xfrm>
          <a:prstGeom prst="rect">
            <a:avLst/>
          </a:prstGeom>
          <a:noFill/>
          <a:ln/>
        </p:spPr>
        <p:txBody>
          <a:bodyPr wrap="square" rtlCol="0" anchor="ctr"/>
          <a:lstStyle/>
          <a:p>
            <a:pPr marL="0" indent="0">
              <a:buNone/>
            </a:pPr>
            <a:r>
              <a:rPr lang="en-US" sz="1100" b="1" kern="0" spc="50" dirty="0">
                <a:solidFill>
                  <a:srgbClr val="1E9ED9"/>
                </a:solidFill>
                <a:latin typeface="Calibri" pitchFamily="34" charset="0"/>
                <a:ea typeface="Calibri" pitchFamily="34" charset="-122"/>
                <a:cs typeface="Calibri" pitchFamily="34" charset="-120"/>
              </a:rPr>
              <a:t>FREQUENCY</a:t>
            </a:r>
            <a:endParaRPr lang="en-US" sz="1100" dirty="0"/>
          </a:p>
        </p:txBody>
      </p:sp>
      <p:sp>
        <p:nvSpPr>
          <p:cNvPr id="17" name="Text 13"/>
          <p:cNvSpPr txBox="1"/>
          <p:nvPr/>
        </p:nvSpPr>
        <p:spPr>
          <a:xfrm>
            <a:off x="4160520" y="3867912"/>
            <a:ext cx="6858000" cy="502920"/>
          </a:xfrm>
          <a:prstGeom prst="rect">
            <a:avLst/>
          </a:prstGeom>
          <a:noFill/>
          <a:ln/>
        </p:spPr>
        <p:txBody>
          <a:bodyPr wrap="square" rtlCol="0" anchor="ctr"/>
          <a:lstStyle/>
          <a:p>
            <a:pPr marL="0" indent="0">
              <a:lnSpc>
                <a:spcPct val="110000"/>
              </a:lnSpc>
              <a:buNone/>
            </a:pPr>
            <a:r>
              <a:rPr lang="en-US" sz="1400" dirty="0">
                <a:solidFill>
                  <a:srgbClr val="0B1F3A"/>
                </a:solidFill>
                <a:latin typeface="Calibri" pitchFamily="34" charset="0"/>
                <a:ea typeface="Calibri" pitchFamily="34" charset="-122"/>
                <a:cs typeface="Calibri" pitchFamily="34" charset="-120"/>
              </a:rPr>
              <a:t>Monthly, starting this Friday</a:t>
            </a:r>
            <a:endParaRPr lang="en-US" sz="1400" dirty="0"/>
          </a:p>
        </p:txBody>
      </p:sp>
      <p:sp>
        <p:nvSpPr>
          <p:cNvPr id="18" name="Shape 14"/>
          <p:cNvSpPr/>
          <p:nvPr/>
        </p:nvSpPr>
        <p:spPr>
          <a:xfrm>
            <a:off x="4160520" y="4279392"/>
            <a:ext cx="6858000" cy="0"/>
          </a:xfrm>
          <a:prstGeom prst="line">
            <a:avLst/>
          </a:prstGeom>
          <a:noFill/>
          <a:ln w="12700">
            <a:solidFill>
              <a:srgbClr val="DCE6EF"/>
            </a:solidFill>
            <a:prstDash val="solid"/>
          </a:ln>
        </p:spPr>
        <p:txBody>
          <a:bodyPr/>
          <a:lstStyle/>
          <a:p>
            <a:endParaRPr lang="en-US"/>
          </a:p>
        </p:txBody>
      </p:sp>
      <p:sp>
        <p:nvSpPr>
          <p:cNvPr id="19" name="Text 15"/>
          <p:cNvSpPr txBox="1"/>
          <p:nvPr/>
        </p:nvSpPr>
        <p:spPr>
          <a:xfrm>
            <a:off x="4160520" y="4425696"/>
            <a:ext cx="6858000" cy="219456"/>
          </a:xfrm>
          <a:prstGeom prst="rect">
            <a:avLst/>
          </a:prstGeom>
          <a:noFill/>
          <a:ln/>
        </p:spPr>
        <p:txBody>
          <a:bodyPr wrap="square" rtlCol="0" anchor="ctr"/>
          <a:lstStyle/>
          <a:p>
            <a:pPr marL="0" indent="0">
              <a:buNone/>
            </a:pPr>
            <a:r>
              <a:rPr lang="en-US" sz="1100" b="1" kern="0" spc="50" dirty="0">
                <a:solidFill>
                  <a:srgbClr val="1E9ED9"/>
                </a:solidFill>
                <a:latin typeface="Calibri" pitchFamily="34" charset="0"/>
                <a:ea typeface="Calibri" pitchFamily="34" charset="-122"/>
                <a:cs typeface="Calibri" pitchFamily="34" charset="-120"/>
              </a:rPr>
              <a:t>PURPOSE</a:t>
            </a:r>
            <a:endParaRPr lang="en-US" sz="1100" dirty="0"/>
          </a:p>
        </p:txBody>
      </p:sp>
      <p:sp>
        <p:nvSpPr>
          <p:cNvPr id="20" name="Text 16"/>
          <p:cNvSpPr txBox="1"/>
          <p:nvPr/>
        </p:nvSpPr>
        <p:spPr>
          <a:xfrm>
            <a:off x="4160520" y="4663440"/>
            <a:ext cx="6858000" cy="1554480"/>
          </a:xfrm>
          <a:prstGeom prst="rect">
            <a:avLst/>
          </a:prstGeom>
          <a:noFill/>
          <a:ln/>
        </p:spPr>
        <p:txBody>
          <a:bodyPr wrap="square" rtlCol="0" anchor="ctr"/>
          <a:lstStyle/>
          <a:p>
            <a:pPr marL="0" indent="0">
              <a:lnSpc>
                <a:spcPct val="120000"/>
              </a:lnSpc>
              <a:buNone/>
            </a:pPr>
            <a:r>
              <a:rPr lang="en-US" sz="1130" dirty="0">
                <a:solidFill>
                  <a:srgbClr val="222E3D"/>
                </a:solidFill>
                <a:latin typeface="Calibri" pitchFamily="34" charset="0"/>
                <a:ea typeface="Calibri" pitchFamily="34" charset="-122"/>
                <a:cs typeface="Calibri" pitchFamily="34" charset="-120"/>
              </a:rPr>
              <a:t>Rwanda's 40 innovators selected into Cohort 1 will meet at the </a:t>
            </a:r>
            <a:r>
              <a:rPr lang="en-US" sz="1130" dirty="0" err="1">
                <a:solidFill>
                  <a:srgbClr val="222E3D"/>
                </a:solidFill>
                <a:latin typeface="Calibri" pitchFamily="34" charset="0"/>
                <a:ea typeface="Calibri" pitchFamily="34" charset="-122"/>
                <a:cs typeface="Calibri" pitchFamily="34" charset="-120"/>
              </a:rPr>
              <a:t>UniPod</a:t>
            </a:r>
            <a:r>
              <a:rPr lang="en-US" sz="1130" dirty="0">
                <a:solidFill>
                  <a:srgbClr val="222E3D"/>
                </a:solidFill>
                <a:latin typeface="Calibri" pitchFamily="34" charset="0"/>
                <a:ea typeface="Calibri" pitchFamily="34" charset="-122"/>
                <a:cs typeface="Calibri" pitchFamily="34" charset="-120"/>
              </a:rPr>
              <a:t> Rwanda, to showcase their work, build peer learning and collaboration between teams facing similar challenges, raise UniPod Rwanda's visibility as a hub in dialogue with the national innovation community, and encourage innovators who are not yet linked to a UniPod to connect with the one in their own country. It is piloted first at UniPod Rwanda, with the aim of other UniPods adopting the same model.</a:t>
            </a:r>
            <a:endParaRPr lang="en-US" sz="1130" dirty="0"/>
          </a:p>
        </p:txBody>
      </p:sp>
      <p:sp>
        <p:nvSpPr>
          <p:cNvPr id="21" name="Text 17"/>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5B6B7C"/>
                </a:solidFill>
                <a:latin typeface="Calibri" pitchFamily="34" charset="0"/>
                <a:ea typeface="Calibri" pitchFamily="34" charset="-122"/>
                <a:cs typeface="Calibri" pitchFamily="34" charset="-120"/>
              </a:rPr>
              <a:t>METI UniPods AI Innovation Programme  ·  Cohort 1</a:t>
            </a:r>
            <a:endParaRPr lang="en-US" sz="900" dirty="0"/>
          </a:p>
        </p:txBody>
      </p:sp>
      <p:sp>
        <p:nvSpPr>
          <p:cNvPr id="22" name="Text 18"/>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40080" y="640080"/>
            <a:ext cx="1965960" cy="566928"/>
          </a:xfrm>
          <a:prstGeom prst="roundRect">
            <a:avLst>
              <a:gd name="adj" fmla="val 12903"/>
            </a:avLst>
          </a:prstGeom>
          <a:solidFill>
            <a:srgbClr val="FFFFFF"/>
          </a:solidFill>
          <a:ln/>
        </p:spPr>
        <p:txBody>
          <a:bodyPr/>
          <a:lstStyle/>
          <a:p>
            <a:endParaRPr lang="en-US"/>
          </a:p>
        </p:txBody>
      </p:sp>
      <p:pic>
        <p:nvPicPr>
          <p:cNvPr id="3" name="Image 0" descr="pdf_assets/img-000.jpg"/>
          <p:cNvPicPr>
            <a:picLocks noChangeAspect="1"/>
          </p:cNvPicPr>
          <p:nvPr/>
        </p:nvPicPr>
        <p:blipFill>
          <a:blip r:embed="rId3"/>
          <a:stretch>
            <a:fillRect/>
          </a:stretch>
        </p:blipFill>
        <p:spPr>
          <a:xfrm>
            <a:off x="804672" y="758952"/>
            <a:ext cx="1636776" cy="329184"/>
          </a:xfrm>
          <a:prstGeom prst="rect">
            <a:avLst/>
          </a:prstGeom>
        </p:spPr>
      </p:pic>
      <p:pic>
        <p:nvPicPr>
          <p:cNvPr id="4" name="Image 1" descr="pdf_assets/img-001.jpg"/>
          <p:cNvPicPr>
            <a:picLocks noChangeAspect="1"/>
          </p:cNvPicPr>
          <p:nvPr/>
        </p:nvPicPr>
        <p:blipFill>
          <a:blip r:embed="rId4"/>
          <a:stretch>
            <a:fillRect/>
          </a:stretch>
        </p:blipFill>
        <p:spPr>
          <a:xfrm>
            <a:off x="11002975" y="548640"/>
            <a:ext cx="316040" cy="640080"/>
          </a:xfrm>
          <a:prstGeom prst="rect">
            <a:avLst/>
          </a:prstGeom>
        </p:spPr>
      </p:pic>
      <p:sp>
        <p:nvSpPr>
          <p:cNvPr id="5" name="Text 1"/>
          <p:cNvSpPr txBox="1"/>
          <p:nvPr/>
        </p:nvSpPr>
        <p:spPr>
          <a:xfrm>
            <a:off x="640080" y="2788920"/>
            <a:ext cx="10332720" cy="7772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Cohort 1 is underway</a:t>
            </a:r>
            <a:endParaRPr lang="en-US" sz="3200" dirty="0"/>
          </a:p>
        </p:txBody>
      </p:sp>
      <p:sp>
        <p:nvSpPr>
          <p:cNvPr id="6" name="Text 2"/>
          <p:cNvSpPr txBox="1"/>
          <p:nvPr/>
        </p:nvSpPr>
        <p:spPr>
          <a:xfrm>
            <a:off x="640080" y="3520440"/>
            <a:ext cx="9601200" cy="548640"/>
          </a:xfrm>
          <a:prstGeom prst="rect">
            <a:avLst/>
          </a:prstGeom>
          <a:noFill/>
          <a:ln/>
        </p:spPr>
        <p:txBody>
          <a:bodyPr wrap="square" rtlCol="0" anchor="ctr"/>
          <a:lstStyle/>
          <a:p>
            <a:pPr marL="0" indent="0">
              <a:buNone/>
            </a:pPr>
            <a:r>
              <a:rPr lang="en-US" sz="1500" dirty="0">
                <a:solidFill>
                  <a:srgbClr val="1E9ED9"/>
                </a:solidFill>
                <a:latin typeface="Calibri" pitchFamily="34" charset="0"/>
                <a:ea typeface="Calibri" pitchFamily="34" charset="-122"/>
                <a:cs typeface="Calibri" pitchFamily="34" charset="-120"/>
              </a:rPr>
              <a:t>242 teams from 22 countries are now moving through MIT, Wadhwani and the Ethiopian AI Institute.</a:t>
            </a:r>
            <a:endParaRPr lang="en-US" sz="1500" dirty="0"/>
          </a:p>
        </p:txBody>
      </p:sp>
      <p:sp>
        <p:nvSpPr>
          <p:cNvPr id="7" name="Text 3"/>
          <p:cNvSpPr txBox="1"/>
          <p:nvPr/>
        </p:nvSpPr>
        <p:spPr>
          <a:xfrm>
            <a:off x="640080" y="5029200"/>
            <a:ext cx="5486400" cy="320040"/>
          </a:xfrm>
          <a:prstGeom prst="rect">
            <a:avLst/>
          </a:prstGeom>
          <a:noFill/>
          <a:ln/>
        </p:spPr>
        <p:txBody>
          <a:bodyPr wrap="square" rtlCol="0" anchor="ctr"/>
          <a:lstStyle/>
          <a:p>
            <a:pPr marL="0" indent="0">
              <a:buNone/>
            </a:pPr>
            <a:r>
              <a:rPr lang="en-US" sz="1300" b="1" dirty="0">
                <a:solidFill>
                  <a:srgbClr val="F4D218"/>
                </a:solidFill>
                <a:latin typeface="Calibri" pitchFamily="34" charset="0"/>
                <a:ea typeface="Calibri" pitchFamily="34" charset="-122"/>
                <a:cs typeface="Calibri" pitchFamily="34" charset="-120"/>
              </a:rPr>
              <a:t>Questions</a:t>
            </a:r>
            <a:endParaRPr lang="en-US" sz="1300" dirty="0"/>
          </a:p>
        </p:txBody>
      </p:sp>
      <p:sp>
        <p:nvSpPr>
          <p:cNvPr id="8" name="Text 4"/>
          <p:cNvSpPr txBox="1"/>
          <p:nvPr/>
        </p:nvSpPr>
        <p:spPr>
          <a:xfrm>
            <a:off x="640080" y="5349240"/>
            <a:ext cx="54864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unipods.regional@undp.org</a:t>
            </a:r>
            <a:endParaRPr lang="en-US" sz="1500" dirty="0"/>
          </a:p>
        </p:txBody>
      </p:sp>
      <p:sp>
        <p:nvSpPr>
          <p:cNvPr id="9" name="Text 5"/>
          <p:cNvSpPr txBox="1"/>
          <p:nvPr/>
        </p:nvSpPr>
        <p:spPr>
          <a:xfrm>
            <a:off x="502920" y="6446520"/>
            <a:ext cx="7315200" cy="274320"/>
          </a:xfrm>
          <a:prstGeom prst="rect">
            <a:avLst/>
          </a:prstGeom>
          <a:noFill/>
          <a:ln/>
        </p:spPr>
        <p:txBody>
          <a:bodyPr wrap="square" rtlCol="0" anchor="ctr"/>
          <a:lstStyle/>
          <a:p>
            <a:pPr marL="0" indent="0">
              <a:buNone/>
            </a:pPr>
            <a:r>
              <a:rPr lang="en-US" sz="900" dirty="0">
                <a:solidFill>
                  <a:srgbClr val="8FA3BC"/>
                </a:solidFill>
                <a:latin typeface="Calibri" pitchFamily="34" charset="0"/>
                <a:ea typeface="Calibri" pitchFamily="34" charset="-122"/>
                <a:cs typeface="Calibri" pitchFamily="34" charset="-120"/>
              </a:rPr>
              <a:t>METI UniPods AI Innovation Programme  ·  Cohort 1</a:t>
            </a:r>
            <a:endParaRPr lang="en-US" sz="900" dirty="0"/>
          </a:p>
        </p:txBody>
      </p:sp>
      <p:sp>
        <p:nvSpPr>
          <p:cNvPr id="10" name="Text 6"/>
          <p:cNvSpPr txBox="1"/>
          <p:nvPr/>
        </p:nvSpPr>
        <p:spPr>
          <a:xfrm>
            <a:off x="11231575" y="6446520"/>
            <a:ext cx="457200" cy="274320"/>
          </a:xfrm>
          <a:prstGeom prst="rect">
            <a:avLst/>
          </a:prstGeom>
          <a:noFill/>
          <a:ln/>
        </p:spPr>
        <p:txBody>
          <a:bodyPr wrap="square" rtlCol="0" anchor="ctr"/>
          <a:lstStyle/>
          <a:p>
            <a:pPr marL="0" indent="0" algn="r">
              <a:buNone/>
            </a:pPr>
            <a:r>
              <a:rPr lang="en-US" sz="900" dirty="0">
                <a:solidFill>
                  <a:srgbClr val="8FA3B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678</Words>
  <Application>Microsoft Office PowerPoint</Application>
  <PresentationFormat>Widescreen</PresentationFormat>
  <Paragraphs>117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Diane Kayitesi</cp:lastModifiedBy>
  <cp:revision>2</cp:revision>
  <dcterms:created xsi:type="dcterms:W3CDTF">2026-09-08T12:11:35Z</dcterms:created>
  <dcterms:modified xsi:type="dcterms:W3CDTF">2026-09-08T12:19:12Z</dcterms:modified>
</cp:coreProperties>
</file>